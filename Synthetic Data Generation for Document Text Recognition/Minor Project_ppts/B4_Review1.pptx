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Arial Black"/>
      <p:regular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hqT71bFXIXRNsPp2f0JkRDiodj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ArialBlack-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5"/>
          <p:cNvSpPr txBox="1"/>
          <p:nvPr>
            <p:ph type="title"/>
          </p:nvPr>
        </p:nvSpPr>
        <p:spPr>
          <a:xfrm>
            <a:off x="1524000" y="1122362"/>
            <a:ext cx="9144000" cy="238760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15"/>
          <p:cNvSpPr txBox="1"/>
          <p:nvPr>
            <p:ph idx="1" type="body"/>
          </p:nvPr>
        </p:nvSpPr>
        <p:spPr>
          <a:xfrm>
            <a:off x="1524000" y="3602037"/>
            <a:ext cx="9144000" cy="1655763"/>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000000"/>
              </a:buClr>
              <a:buSzPts val="2400"/>
              <a:buFont typeface="Calibri"/>
              <a:buNone/>
              <a:defRPr sz="2400"/>
            </a:lvl1pPr>
            <a:lvl2pPr indent="-228600" lvl="1" marL="914400" algn="ctr">
              <a:lnSpc>
                <a:spcPct val="90000"/>
              </a:lnSpc>
              <a:spcBef>
                <a:spcPts val="1000"/>
              </a:spcBef>
              <a:spcAft>
                <a:spcPts val="0"/>
              </a:spcAft>
              <a:buClr>
                <a:srgbClr val="000000"/>
              </a:buClr>
              <a:buSzPts val="2400"/>
              <a:buFont typeface="Calibri"/>
              <a:buNone/>
              <a:defRPr sz="2400"/>
            </a:lvl2pPr>
            <a:lvl3pPr indent="-228600" lvl="2" marL="1371600" algn="ctr">
              <a:lnSpc>
                <a:spcPct val="90000"/>
              </a:lnSpc>
              <a:spcBef>
                <a:spcPts val="1000"/>
              </a:spcBef>
              <a:spcAft>
                <a:spcPts val="0"/>
              </a:spcAft>
              <a:buClr>
                <a:srgbClr val="000000"/>
              </a:buClr>
              <a:buSzPts val="2400"/>
              <a:buFont typeface="Calibri"/>
              <a:buNone/>
              <a:defRPr sz="2400"/>
            </a:lvl3pPr>
            <a:lvl4pPr indent="-228600" lvl="3" marL="1828800" algn="ctr">
              <a:lnSpc>
                <a:spcPct val="90000"/>
              </a:lnSpc>
              <a:spcBef>
                <a:spcPts val="1000"/>
              </a:spcBef>
              <a:spcAft>
                <a:spcPts val="0"/>
              </a:spcAft>
              <a:buClr>
                <a:srgbClr val="000000"/>
              </a:buClr>
              <a:buSzPts val="2400"/>
              <a:buFont typeface="Calibri"/>
              <a:buNone/>
              <a:defRPr sz="2400"/>
            </a:lvl4pPr>
            <a:lvl5pPr indent="-228600" lvl="4" marL="2286000" algn="ctr">
              <a:lnSpc>
                <a:spcPct val="90000"/>
              </a:lnSpc>
              <a:spcBef>
                <a:spcPts val="1000"/>
              </a:spcBef>
              <a:spcAft>
                <a:spcPts val="0"/>
              </a:spcAft>
              <a:buClr>
                <a:srgbClr val="000000"/>
              </a:buClr>
              <a:buSzPts val="2400"/>
              <a:buFont typeface="Calibri"/>
              <a:buNone/>
              <a:defRPr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2" name="Google Shape;12;p15"/>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13" name="Shape 13"/>
        <p:cNvGrpSpPr/>
        <p:nvPr/>
      </p:nvGrpSpPr>
      <p:grpSpPr>
        <a:xfrm>
          <a:off x="0" y="0"/>
          <a:ext cx="0" cy="0"/>
          <a:chOff x="0" y="0"/>
          <a:chExt cx="0" cy="0"/>
        </a:xfrm>
      </p:grpSpPr>
      <p:sp>
        <p:nvSpPr>
          <p:cNvPr id="14" name="Google Shape;14;p16"/>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7"/>
          <p:cNvSpPr txBox="1"/>
          <p:nvPr>
            <p:ph type="title"/>
          </p:nvPr>
        </p:nvSpPr>
        <p:spPr>
          <a:xfrm>
            <a:off x="838200" y="365127"/>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7" name="Google Shape;17;p17"/>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8" name="Google Shape;18;p17"/>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9" name="Shape 19"/>
        <p:cNvGrpSpPr/>
        <p:nvPr/>
      </p:nvGrpSpPr>
      <p:grpSpPr>
        <a:xfrm>
          <a:off x="0" y="0"/>
          <a:ext cx="0" cy="0"/>
          <a:chOff x="0" y="0"/>
          <a:chExt cx="0" cy="0"/>
        </a:xfrm>
      </p:grpSpPr>
      <p:sp>
        <p:nvSpPr>
          <p:cNvPr id="20" name="Google Shape;20;p18"/>
          <p:cNvSpPr txBox="1"/>
          <p:nvPr>
            <p:ph type="title"/>
          </p:nvPr>
        </p:nvSpPr>
        <p:spPr>
          <a:xfrm>
            <a:off x="838200" y="365127"/>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1" name="Google Shape;21;p18"/>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2" name="Shape 22"/>
        <p:cNvGrpSpPr/>
        <p:nvPr/>
      </p:nvGrpSpPr>
      <p:grpSpPr>
        <a:xfrm>
          <a:off x="0" y="0"/>
          <a:ext cx="0" cy="0"/>
          <a:chOff x="0" y="0"/>
          <a:chExt cx="0" cy="0"/>
        </a:xfrm>
      </p:grpSpPr>
      <p:sp>
        <p:nvSpPr>
          <p:cNvPr id="23" name="Google Shape;23;p19"/>
          <p:cNvSpPr txBox="1"/>
          <p:nvPr>
            <p:ph type="title"/>
          </p:nvPr>
        </p:nvSpPr>
        <p:spPr>
          <a:xfrm>
            <a:off x="831850" y="1709740"/>
            <a:ext cx="10515601"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4" name="Google Shape;24;p19"/>
          <p:cNvSpPr txBox="1"/>
          <p:nvPr>
            <p:ph idx="1" type="body"/>
          </p:nvPr>
        </p:nvSpPr>
        <p:spPr>
          <a:xfrm>
            <a:off x="831850" y="4589464"/>
            <a:ext cx="10515601" cy="15001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5" name="Google Shape;25;p19"/>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6" name="Shape 26"/>
        <p:cNvGrpSpPr/>
        <p:nvPr/>
      </p:nvGrpSpPr>
      <p:grpSpPr>
        <a:xfrm>
          <a:off x="0" y="0"/>
          <a:ext cx="0" cy="0"/>
          <a:chOff x="0" y="0"/>
          <a:chExt cx="0" cy="0"/>
        </a:xfrm>
      </p:grpSpPr>
      <p:sp>
        <p:nvSpPr>
          <p:cNvPr id="27" name="Google Shape;27;p20"/>
          <p:cNvSpPr txBox="1"/>
          <p:nvPr>
            <p:ph type="title"/>
          </p:nvPr>
        </p:nvSpPr>
        <p:spPr>
          <a:xfrm>
            <a:off x="838200" y="365127"/>
            <a:ext cx="10515600"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8" name="Google Shape;28;p20"/>
          <p:cNvSpPr txBox="1"/>
          <p:nvPr>
            <p:ph idx="1" type="body"/>
          </p:nvPr>
        </p:nvSpPr>
        <p:spPr>
          <a:xfrm>
            <a:off x="838200" y="1825625"/>
            <a:ext cx="5181600"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9" name="Google Shape;29;p20"/>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0" name="Shape 30"/>
        <p:cNvGrpSpPr/>
        <p:nvPr/>
      </p:nvGrpSpPr>
      <p:grpSpPr>
        <a:xfrm>
          <a:off x="0" y="0"/>
          <a:ext cx="0" cy="0"/>
          <a:chOff x="0" y="0"/>
          <a:chExt cx="0" cy="0"/>
        </a:xfrm>
      </p:grpSpPr>
      <p:sp>
        <p:nvSpPr>
          <p:cNvPr id="31" name="Google Shape;31;p21"/>
          <p:cNvSpPr txBox="1"/>
          <p:nvPr>
            <p:ph type="title"/>
          </p:nvPr>
        </p:nvSpPr>
        <p:spPr>
          <a:xfrm>
            <a:off x="839787" y="365127"/>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 name="Google Shape;32;p21"/>
          <p:cNvSpPr txBox="1"/>
          <p:nvPr>
            <p:ph idx="1" type="body"/>
          </p:nvPr>
        </p:nvSpPr>
        <p:spPr>
          <a:xfrm>
            <a:off x="839788" y="1681163"/>
            <a:ext cx="5157789" cy="823913"/>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3" name="Google Shape;33;p21"/>
          <p:cNvSpPr txBox="1"/>
          <p:nvPr>
            <p:ph idx="2" type="body"/>
          </p:nvPr>
        </p:nvSpPr>
        <p:spPr>
          <a:xfrm>
            <a:off x="6172201" y="1681163"/>
            <a:ext cx="5183189" cy="823913"/>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4" name="Google Shape;34;p21"/>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22"/>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7" name="Google Shape;37;p22"/>
          <p:cNvSpPr txBox="1"/>
          <p:nvPr>
            <p:ph idx="1" type="body"/>
          </p:nvPr>
        </p:nvSpPr>
        <p:spPr>
          <a:xfrm>
            <a:off x="5183187" y="987427"/>
            <a:ext cx="6172201" cy="4873626"/>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8" name="Google Shape;38;p22"/>
          <p:cNvSpPr txBox="1"/>
          <p:nvPr>
            <p:ph idx="2" type="body"/>
          </p:nvPr>
        </p:nvSpPr>
        <p:spPr>
          <a:xfrm>
            <a:off x="839787" y="2057400"/>
            <a:ext cx="3932238"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9" name="Google Shape;39;p22"/>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23"/>
          <p:cNvSpPr txBox="1"/>
          <p:nvPr>
            <p:ph type="title"/>
          </p:nvPr>
        </p:nvSpPr>
        <p:spPr>
          <a:xfrm>
            <a:off x="839787" y="457200"/>
            <a:ext cx="3932239"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23"/>
          <p:cNvSpPr/>
          <p:nvPr>
            <p:ph idx="2" type="pic"/>
          </p:nvPr>
        </p:nvSpPr>
        <p:spPr>
          <a:xfrm>
            <a:off x="5183187" y="987427"/>
            <a:ext cx="6172201" cy="4873626"/>
          </a:xfrm>
          <a:prstGeom prst="rect">
            <a:avLst/>
          </a:prstGeom>
          <a:noFill/>
          <a:ln>
            <a:noFill/>
          </a:ln>
        </p:spPr>
      </p:sp>
      <p:sp>
        <p:nvSpPr>
          <p:cNvPr id="43" name="Google Shape;43;p23"/>
          <p:cNvSpPr txBox="1"/>
          <p:nvPr>
            <p:ph idx="1" type="body"/>
          </p:nvPr>
        </p:nvSpPr>
        <p:spPr>
          <a:xfrm>
            <a:off x="839787" y="2057400"/>
            <a:ext cx="3932239"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44" name="Google Shape;44;p23"/>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838200" y="365127"/>
            <a:ext cx="10515600"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14"/>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sp>
        <p:nvSpPr>
          <p:cNvPr id="8" name="Google Shape;8;p14"/>
          <p:cNvSpPr txBox="1"/>
          <p:nvPr>
            <p:ph idx="12" type="sldNum"/>
          </p:nvPr>
        </p:nvSpPr>
        <p:spPr>
          <a:xfrm>
            <a:off x="11095176" y="6414761"/>
            <a:ext cx="258624" cy="248306"/>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ph idx="4294967295" type="ctrTitle"/>
          </p:nvPr>
        </p:nvSpPr>
        <p:spPr>
          <a:xfrm>
            <a:off x="194767" y="1793944"/>
            <a:ext cx="11802465" cy="1249206"/>
          </a:xfrm>
          <a:prstGeom prst="rect">
            <a:avLst/>
          </a:prstGeom>
          <a:noFill/>
          <a:ln>
            <a:noFill/>
          </a:ln>
        </p:spPr>
        <p:txBody>
          <a:bodyPr anchorCtr="0" anchor="b" bIns="45700" lIns="45700" spcFirstLastPara="1" rIns="45700" wrap="square" tIns="45700">
            <a:normAutofit/>
          </a:bodyPr>
          <a:lstStyle/>
          <a:p>
            <a:pPr indent="0" lvl="0" marL="0" marR="0" rtl="0" algn="ctr">
              <a:lnSpc>
                <a:spcPct val="90000"/>
              </a:lnSpc>
              <a:spcBef>
                <a:spcPts val="0"/>
              </a:spcBef>
              <a:spcAft>
                <a:spcPts val="0"/>
              </a:spcAft>
              <a:buClr>
                <a:srgbClr val="000000"/>
              </a:buClr>
              <a:buSzPts val="3864"/>
              <a:buFont typeface="Calibri"/>
              <a:buNone/>
            </a:pPr>
            <a:r>
              <a:rPr b="0" i="0" lang="en-US" sz="3864" u="none" cap="none" strike="noStrike">
                <a:solidFill>
                  <a:srgbClr val="000000"/>
                </a:solidFill>
                <a:latin typeface="Calibri"/>
                <a:ea typeface="Calibri"/>
                <a:cs typeface="Calibri"/>
                <a:sym typeface="Calibri"/>
              </a:rPr>
              <a:t>Synthetic Data Generation for Document Text Recognition</a:t>
            </a:r>
            <a:endParaRPr/>
          </a:p>
          <a:p>
            <a:pPr indent="0" lvl="0" marL="0" marR="0" rtl="0" algn="ctr">
              <a:lnSpc>
                <a:spcPct val="90000"/>
              </a:lnSpc>
              <a:spcBef>
                <a:spcPts val="0"/>
              </a:spcBef>
              <a:spcAft>
                <a:spcPts val="0"/>
              </a:spcAft>
              <a:buClr>
                <a:srgbClr val="000000"/>
              </a:buClr>
              <a:buSzPts val="2562"/>
              <a:buFont typeface="Calibri"/>
              <a:buNone/>
            </a:pPr>
            <a:r>
              <a:rPr b="0" i="0" lang="en-US" sz="2562" u="none" cap="none" strike="noStrike">
                <a:solidFill>
                  <a:srgbClr val="000000"/>
                </a:solidFill>
                <a:latin typeface="Calibri"/>
                <a:ea typeface="Calibri"/>
                <a:cs typeface="Calibri"/>
                <a:sym typeface="Calibri"/>
              </a:rPr>
              <a:t>Dr. Ashlin Deepa R N</a:t>
            </a:r>
            <a:endParaRPr/>
          </a:p>
        </p:txBody>
      </p:sp>
      <p:sp>
        <p:nvSpPr>
          <p:cNvPr id="50" name="Google Shape;50;p1"/>
          <p:cNvSpPr txBox="1"/>
          <p:nvPr>
            <p:ph idx="4294967295" type="subTitle"/>
          </p:nvPr>
        </p:nvSpPr>
        <p:spPr>
          <a:xfrm>
            <a:off x="5253137" y="3692502"/>
            <a:ext cx="6401384" cy="2517848"/>
          </a:xfrm>
          <a:prstGeom prst="rect">
            <a:avLst/>
          </a:prstGeom>
          <a:noFill/>
          <a:ln>
            <a:noFill/>
          </a:ln>
        </p:spPr>
        <p:txBody>
          <a:bodyPr anchorCtr="0" anchor="t" bIns="45700" lIns="45700" spcFirstLastPara="1" rIns="45700" wrap="square" tIns="45700">
            <a:normAutofit/>
          </a:bodyPr>
          <a:lstStyle/>
          <a:p>
            <a:pPr indent="429757" lvl="1" marL="0" marR="0" rtl="0" algn="ctr">
              <a:lnSpc>
                <a:spcPct val="90000"/>
              </a:lnSpc>
              <a:spcBef>
                <a:spcPts val="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429757" lvl="1" marL="0" marR="0" rtl="0" algn="l">
              <a:lnSpc>
                <a:spcPct val="90000"/>
              </a:lnSpc>
              <a:spcBef>
                <a:spcPts val="400"/>
              </a:spcBef>
              <a:spcAft>
                <a:spcPts val="0"/>
              </a:spcAft>
              <a:buClr>
                <a:srgbClr val="000000"/>
              </a:buClr>
              <a:buSzPts val="1879"/>
              <a:buFont typeface="Arial"/>
              <a:buNone/>
            </a:pPr>
            <a:r>
              <a:rPr b="0" i="0" lang="en-US" sz="1879" u="none" cap="none" strike="noStrike">
                <a:solidFill>
                  <a:srgbClr val="000000"/>
                </a:solidFill>
                <a:latin typeface="Calibri"/>
                <a:ea typeface="Calibri"/>
                <a:cs typeface="Calibri"/>
                <a:sym typeface="Calibri"/>
              </a:rPr>
              <a:t>	</a:t>
            </a:r>
            <a:r>
              <a:rPr b="0" i="1" lang="en-US" sz="2632" u="none" cap="none" strike="noStrike">
                <a:solidFill>
                  <a:srgbClr val="000000"/>
                </a:solidFill>
                <a:latin typeface="Arial"/>
                <a:ea typeface="Arial"/>
                <a:cs typeface="Arial"/>
                <a:sym typeface="Arial"/>
              </a:rPr>
              <a:t>B Jhansi Lakshmi 20241A0566</a:t>
            </a:r>
            <a:endParaRPr/>
          </a:p>
          <a:p>
            <a:pPr indent="429757" lvl="1" marL="0" marR="0" rtl="0" algn="l">
              <a:lnSpc>
                <a:spcPct val="90000"/>
              </a:lnSpc>
              <a:spcBef>
                <a:spcPts val="400"/>
              </a:spcBef>
              <a:spcAft>
                <a:spcPts val="0"/>
              </a:spcAft>
              <a:buClr>
                <a:srgbClr val="000000"/>
              </a:buClr>
              <a:buSzPts val="2632"/>
              <a:buFont typeface="Arial"/>
              <a:buNone/>
            </a:pPr>
            <a:r>
              <a:rPr b="0" i="1" lang="en-US" sz="2632" u="none" cap="none" strike="noStrike">
                <a:solidFill>
                  <a:srgbClr val="000000"/>
                </a:solidFill>
                <a:latin typeface="Arial"/>
                <a:ea typeface="Arial"/>
                <a:cs typeface="Arial"/>
                <a:sym typeface="Arial"/>
              </a:rPr>
              <a:t>    B Srija 20241A0564</a:t>
            </a:r>
            <a:endParaRPr/>
          </a:p>
          <a:p>
            <a:pPr indent="429757" lvl="1" marL="0" marR="0" rtl="0" algn="l">
              <a:lnSpc>
                <a:spcPct val="90000"/>
              </a:lnSpc>
              <a:spcBef>
                <a:spcPts val="400"/>
              </a:spcBef>
              <a:spcAft>
                <a:spcPts val="0"/>
              </a:spcAft>
              <a:buClr>
                <a:srgbClr val="000000"/>
              </a:buClr>
              <a:buSzPts val="2632"/>
              <a:buFont typeface="Arial"/>
              <a:buNone/>
            </a:pPr>
            <a:r>
              <a:rPr b="0" i="1" lang="en-US" sz="2632" u="none" cap="none" strike="noStrike">
                <a:solidFill>
                  <a:srgbClr val="000000"/>
                </a:solidFill>
                <a:latin typeface="Arial"/>
                <a:ea typeface="Arial"/>
                <a:cs typeface="Arial"/>
                <a:sym typeface="Arial"/>
              </a:rPr>
              <a:t>    Maria Jabeen 20241A0593</a:t>
            </a:r>
            <a:endParaRPr/>
          </a:p>
          <a:p>
            <a:pPr indent="429757" lvl="1" marL="0" marR="0" rtl="0" algn="l">
              <a:lnSpc>
                <a:spcPct val="90000"/>
              </a:lnSpc>
              <a:spcBef>
                <a:spcPts val="400"/>
              </a:spcBef>
              <a:spcAft>
                <a:spcPts val="0"/>
              </a:spcAft>
              <a:buClr>
                <a:srgbClr val="000000"/>
              </a:buClr>
              <a:buSzPts val="2632"/>
              <a:buFont typeface="Arial"/>
              <a:buNone/>
            </a:pPr>
            <a:r>
              <a:rPr b="0" i="1" lang="en-US" sz="2632" u="none" cap="none" strike="noStrike">
                <a:solidFill>
                  <a:srgbClr val="000000"/>
                </a:solidFill>
                <a:latin typeface="Arial"/>
                <a:ea typeface="Arial"/>
                <a:cs typeface="Arial"/>
                <a:sym typeface="Arial"/>
              </a:rPr>
              <a:t>    K Kushi Reddy 20241A0583</a:t>
            </a:r>
            <a:endParaRPr/>
          </a:p>
          <a:p>
            <a:pPr indent="429757" lvl="1" marL="0" marR="0" rtl="0" algn="l">
              <a:lnSpc>
                <a:spcPct val="90000"/>
              </a:lnSpc>
              <a:spcBef>
                <a:spcPts val="400"/>
              </a:spcBef>
              <a:spcAft>
                <a:spcPts val="0"/>
              </a:spcAft>
              <a:buClr>
                <a:srgbClr val="000000"/>
              </a:buClr>
              <a:buSzPts val="2632"/>
              <a:buFont typeface="Arial"/>
              <a:buNone/>
            </a:pPr>
            <a:r>
              <a:rPr b="0" i="1" lang="en-US" sz="2632" u="none" cap="none" strike="noStrike">
                <a:solidFill>
                  <a:srgbClr val="000000"/>
                </a:solidFill>
                <a:latin typeface="Arial"/>
                <a:ea typeface="Arial"/>
                <a:cs typeface="Arial"/>
                <a:sym typeface="Arial"/>
              </a:rPr>
              <a:t>   </a:t>
            </a:r>
            <a:endParaRPr/>
          </a:p>
        </p:txBody>
      </p:sp>
      <p:pic>
        <p:nvPicPr>
          <p:cNvPr descr="Picture 2" id="51" name="Google Shape;51;p1"/>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52" name="Google Shape;52;p1"/>
          <p:cNvSpPr txBox="1"/>
          <p:nvPr/>
        </p:nvSpPr>
        <p:spPr>
          <a:xfrm>
            <a:off x="1331794" y="102214"/>
            <a:ext cx="10658980" cy="1107996"/>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MINI Project Review</a:t>
            </a:r>
            <a:endParaRPr/>
          </a:p>
        </p:txBody>
      </p:sp>
      <p:sp>
        <p:nvSpPr>
          <p:cNvPr id="53" name="Google Shape;53;p1"/>
          <p:cNvSpPr txBox="1"/>
          <p:nvPr/>
        </p:nvSpPr>
        <p:spPr>
          <a:xfrm>
            <a:off x="883919" y="6414761"/>
            <a:ext cx="2651762" cy="248306"/>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888888"/>
              </a:buClr>
              <a:buSzPts val="1200"/>
              <a:buFont typeface="Calibri"/>
              <a:buNone/>
            </a:pPr>
            <a:r>
              <a:rPr b="0" i="0" lang="en-US" sz="1200" u="none" cap="none" strike="noStrike">
                <a:solidFill>
                  <a:srgbClr val="888888"/>
                </a:solidFill>
                <a:latin typeface="Calibri"/>
                <a:ea typeface="Calibri"/>
                <a:cs typeface="Calibri"/>
                <a:sym typeface="Calibri"/>
              </a:rPr>
              <a:t>23-05-2023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2"/>
          <p:cNvSpPr txBox="1"/>
          <p:nvPr>
            <p:ph idx="4294967295" type="ctrTitle"/>
          </p:nvPr>
        </p:nvSpPr>
        <p:spPr>
          <a:xfrm>
            <a:off x="155506" y="1311151"/>
            <a:ext cx="11880988" cy="4976715"/>
          </a:xfrm>
          <a:prstGeom prst="rect">
            <a:avLst/>
          </a:prstGeom>
          <a:noFill/>
          <a:ln>
            <a:noFill/>
          </a:ln>
        </p:spPr>
        <p:txBody>
          <a:bodyPr anchorCtr="0" anchor="t" bIns="45700" lIns="45700" spcFirstLastPara="1" rIns="45700" wrap="square" tIns="45700">
            <a:normAutofit fontScale="90000"/>
          </a:bodyPr>
          <a:lstStyle/>
          <a:p>
            <a:pPr indent="0" lvl="0" marL="0" marR="0" rtl="0" algn="just">
              <a:lnSpc>
                <a:spcPct val="90000"/>
              </a:lnSpc>
              <a:spcBef>
                <a:spcPts val="0"/>
              </a:spcBef>
              <a:spcAft>
                <a:spcPts val="0"/>
              </a:spcAft>
              <a:buClr>
                <a:srgbClr val="000000"/>
              </a:buClr>
              <a:buSzPct val="100000"/>
              <a:buFont typeface="Avenir"/>
              <a:buNone/>
            </a:pPr>
            <a:r>
              <a:rPr b="1" i="0" lang="en-US" sz="3160" u="none" cap="none" strike="noStrike">
                <a:solidFill>
                  <a:srgbClr val="000000"/>
                </a:solidFill>
                <a:latin typeface="Avenir"/>
                <a:ea typeface="Avenir"/>
                <a:cs typeface="Avenir"/>
                <a:sym typeface="Avenir"/>
              </a:rPr>
              <a:t>ABSTRACT :</a:t>
            </a:r>
            <a:endParaRPr/>
          </a:p>
          <a:p>
            <a:pPr indent="0" lvl="0" marL="0" marR="0" rtl="0" algn="just">
              <a:lnSpc>
                <a:spcPct val="90000"/>
              </a:lnSpc>
              <a:spcBef>
                <a:spcPts val="0"/>
              </a:spcBef>
              <a:spcAft>
                <a:spcPts val="0"/>
              </a:spcAft>
              <a:buClr>
                <a:srgbClr val="000000"/>
              </a:buClr>
              <a:buSzPct val="100000"/>
              <a:buFont typeface="Avenir"/>
              <a:buNone/>
            </a:pPr>
            <a:r>
              <a:t/>
            </a:r>
            <a:endParaRPr b="0" i="0" sz="6000" u="none" cap="none" strike="noStrike">
              <a:solidFill>
                <a:srgbClr val="00000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ct val="100000"/>
              <a:buFont typeface="Avenir"/>
              <a:buNone/>
            </a:pPr>
            <a:r>
              <a:t/>
            </a:r>
            <a:endParaRPr b="0" i="0" sz="6000" u="none" cap="none" strike="noStrike">
              <a:solidFill>
                <a:srgbClr val="00000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ct val="100000"/>
              <a:buFont typeface="Avenir"/>
              <a:buNone/>
            </a:pPr>
            <a:r>
              <a:rPr b="0" i="0" lang="en-US" sz="2160" u="none" cap="none" strike="noStrike">
                <a:solidFill>
                  <a:srgbClr val="000000"/>
                </a:solidFill>
                <a:latin typeface="Avenir"/>
                <a:ea typeface="Avenir"/>
                <a:cs typeface="Avenir"/>
                <a:sym typeface="Avenir"/>
              </a:rPr>
              <a:t>Document text recognition is a technology that recognises text in scanned documents.It is used to convert scanned handwritten text into an accessible electronic version of text.In document text recognition of Indian languages, due to vast size of dataset, explicit preprocessing takes lot of time. To reduce the cost and time of preprocessing, synthetic data generation is introduced which does not require explicit preprocessing.Synthetic data is artificial data that mimics real-world observations and is used to train machine learning models when actual data is difficult or expensive to get. In this project we employ a data preprocessing technique that involves generating synthetic data files from the existing dataset of Indian languages.These files serve as a structured format for managing and organizing the data specifically for document text recognition tasks. This synthetic data is used for training and testing the language models. We use the fastText model as a pre-trained language model, which creates word embeddings and acts as a supervisor for predicting using the synthetic data.</a:t>
            </a:r>
            <a:endParaRPr b="0" i="0" sz="1640" u="none" cap="none" strike="noStrike">
              <a:solidFill>
                <a:srgbClr val="000000"/>
              </a:solidFill>
              <a:latin typeface="Calibri"/>
              <a:ea typeface="Calibri"/>
              <a:cs typeface="Calibri"/>
              <a:sym typeface="Calibri"/>
            </a:endParaRPr>
          </a:p>
          <a:p>
            <a:pPr indent="0" lvl="0" marL="0" marR="0" rtl="0" algn="just">
              <a:lnSpc>
                <a:spcPct val="90000"/>
              </a:lnSpc>
              <a:spcBef>
                <a:spcPts val="0"/>
              </a:spcBef>
              <a:spcAft>
                <a:spcPts val="0"/>
              </a:spcAft>
              <a:buClr>
                <a:srgbClr val="000000"/>
              </a:buClr>
              <a:buSzPct val="100000"/>
              <a:buFont typeface="Avenir"/>
              <a:buNone/>
            </a:pPr>
            <a:br>
              <a:rPr b="1" i="0" lang="en-US" sz="2120" u="none" cap="none" strike="noStrike">
                <a:solidFill>
                  <a:srgbClr val="000000"/>
                </a:solidFill>
                <a:latin typeface="Avenir"/>
                <a:ea typeface="Avenir"/>
                <a:cs typeface="Avenir"/>
                <a:sym typeface="Avenir"/>
              </a:rPr>
            </a:br>
            <a:endParaRPr b="0" i="0" sz="6000" u="none" cap="none" strike="noStrike">
              <a:solidFill>
                <a:srgbClr val="000000"/>
              </a:solidFill>
              <a:latin typeface="Calibri"/>
              <a:ea typeface="Calibri"/>
              <a:cs typeface="Calibri"/>
              <a:sym typeface="Calibri"/>
            </a:endParaRPr>
          </a:p>
        </p:txBody>
      </p:sp>
      <p:pic>
        <p:nvPicPr>
          <p:cNvPr descr="Picture 2" id="59" name="Google Shape;59;p2"/>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60" name="Google Shape;60;p2"/>
          <p:cNvSpPr txBox="1"/>
          <p:nvPr/>
        </p:nvSpPr>
        <p:spPr>
          <a:xfrm>
            <a:off x="1331794" y="102214"/>
            <a:ext cx="10658980" cy="1107996"/>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MINI Project Review</a:t>
            </a:r>
            <a:endParaRPr/>
          </a:p>
        </p:txBody>
      </p:sp>
      <p:sp>
        <p:nvSpPr>
          <p:cNvPr id="61" name="Google Shape;61;p2"/>
          <p:cNvSpPr txBox="1"/>
          <p:nvPr/>
        </p:nvSpPr>
        <p:spPr>
          <a:xfrm>
            <a:off x="883919" y="6414761"/>
            <a:ext cx="2651762" cy="248306"/>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888888"/>
              </a:buClr>
              <a:buSzPts val="1200"/>
              <a:buFont typeface="Calibri"/>
              <a:buNone/>
            </a:pPr>
            <a:r>
              <a:rPr b="0" i="0" lang="en-US" sz="1200" u="none" cap="none" strike="noStrike">
                <a:solidFill>
                  <a:srgbClr val="888888"/>
                </a:solidFill>
                <a:latin typeface="Calibri"/>
                <a:ea typeface="Calibri"/>
                <a:cs typeface="Calibri"/>
                <a:sym typeface="Calibri"/>
              </a:rPr>
              <a:t>23-05-2023</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3"/>
          <p:cNvPicPr preferRelativeResize="0"/>
          <p:nvPr/>
        </p:nvPicPr>
        <p:blipFill rotWithShape="1">
          <a:blip r:embed="rId3">
            <a:alphaModFix/>
          </a:blip>
          <a:srcRect b="0" l="0" r="0" t="0"/>
          <a:stretch/>
        </p:blipFill>
        <p:spPr>
          <a:xfrm>
            <a:off x="1851292" y="1569559"/>
            <a:ext cx="8489416" cy="3718882"/>
          </a:xfrm>
          <a:prstGeom prst="rect">
            <a:avLst/>
          </a:prstGeom>
          <a:noFill/>
          <a:ln>
            <a:noFill/>
          </a:ln>
        </p:spPr>
      </p:pic>
      <p:sp>
        <p:nvSpPr>
          <p:cNvPr id="67" name="Google Shape;67;p3"/>
          <p:cNvSpPr txBox="1"/>
          <p:nvPr/>
        </p:nvSpPr>
        <p:spPr>
          <a:xfrm>
            <a:off x="780176" y="788565"/>
            <a:ext cx="10956022" cy="800217"/>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2800"/>
              <a:buFont typeface="Calibri"/>
              <a:buNone/>
            </a:pPr>
            <a:r>
              <a:rPr b="1" i="0" lang="en-US" sz="2800" u="none" cap="none" strike="noStrike">
                <a:solidFill>
                  <a:srgbClr val="000000"/>
                </a:solidFill>
                <a:latin typeface="Calibri"/>
                <a:ea typeface="Calibri"/>
                <a:cs typeface="Calibri"/>
                <a:sym typeface="Calibri"/>
              </a:rPr>
              <a:t>Architecture of the proposed Synthetic  database generator:</a:t>
            </a:r>
            <a:endParaRPr/>
          </a:p>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81575" y="365127"/>
            <a:ext cx="10972225"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0" i="0" lang="en-US" sz="4400" u="none" cap="none" strike="noStrike">
                <a:solidFill>
                  <a:srgbClr val="000000"/>
                </a:solidFill>
                <a:latin typeface="Calibri"/>
                <a:ea typeface="Calibri"/>
                <a:cs typeface="Calibri"/>
                <a:sym typeface="Calibri"/>
              </a:rPr>
              <a:t>Algorithm Used in the project</a:t>
            </a:r>
            <a:endParaRPr/>
          </a:p>
        </p:txBody>
      </p:sp>
      <p:sp>
        <p:nvSpPr>
          <p:cNvPr id="73" name="Google Shape;73;p4"/>
          <p:cNvSpPr txBox="1"/>
          <p:nvPr>
            <p:ph idx="1" type="body"/>
          </p:nvPr>
        </p:nvSpPr>
        <p:spPr>
          <a:xfrm>
            <a:off x="336812" y="1740811"/>
            <a:ext cx="10515601" cy="4623829"/>
          </a:xfrm>
          <a:prstGeom prst="rect">
            <a:avLst/>
          </a:prstGeom>
          <a:noFill/>
          <a:ln>
            <a:noFill/>
          </a:ln>
        </p:spPr>
        <p:txBody>
          <a:bodyPr anchorCtr="0" anchor="t" bIns="45700" lIns="45700" spcFirstLastPara="1" rIns="45700" wrap="square" tIns="45700">
            <a:normAutofit/>
          </a:bodyPr>
          <a:lstStyle/>
          <a:p>
            <a:pPr indent="0" lvl="0" marL="0" rtl="0" algn="just">
              <a:lnSpc>
                <a:spcPct val="100000"/>
              </a:lnSpc>
              <a:spcBef>
                <a:spcPts val="0"/>
              </a:spcBef>
              <a:spcAft>
                <a:spcPts val="0"/>
              </a:spcAft>
              <a:buClr>
                <a:srgbClr val="000000"/>
              </a:buClr>
              <a:buSzPts val="2190"/>
              <a:buFont typeface="Times"/>
              <a:buNone/>
            </a:pPr>
            <a:r>
              <a:rPr b="1" i="1" lang="en-US" sz="2190" u="sng">
                <a:latin typeface="Times"/>
                <a:ea typeface="Times"/>
                <a:cs typeface="Times"/>
                <a:sym typeface="Times"/>
              </a:rPr>
              <a:t>Rectification Module:</a:t>
            </a:r>
            <a:endParaRPr/>
          </a:p>
          <a:p>
            <a:pPr indent="-139065" lvl="0" marL="121154" rtl="0" algn="just">
              <a:lnSpc>
                <a:spcPct val="90000"/>
              </a:lnSpc>
              <a:spcBef>
                <a:spcPts val="500"/>
              </a:spcBef>
              <a:spcAft>
                <a:spcPts val="0"/>
              </a:spcAft>
              <a:buClr>
                <a:srgbClr val="000000"/>
              </a:buClr>
              <a:buSzPts val="2190"/>
              <a:buChar char="•"/>
            </a:pPr>
            <a:r>
              <a:rPr lang="en-US" sz="2190"/>
              <a:t>The Rectification module rectifies the given input text image. </a:t>
            </a:r>
            <a:endParaRPr/>
          </a:p>
          <a:p>
            <a:pPr indent="-139065" lvl="0" marL="121154" rtl="0" algn="just">
              <a:lnSpc>
                <a:spcPct val="90000"/>
              </a:lnSpc>
              <a:spcBef>
                <a:spcPts val="500"/>
              </a:spcBef>
              <a:spcAft>
                <a:spcPts val="0"/>
              </a:spcAft>
              <a:buClr>
                <a:srgbClr val="000000"/>
              </a:buClr>
              <a:buSzPts val="2190"/>
              <a:buChar char="•"/>
            </a:pPr>
            <a:r>
              <a:rPr lang="en-US" sz="2190"/>
              <a:t>Using Spatial Transformation Network(STN), rectification is done in order to simplify text recognition.</a:t>
            </a:r>
            <a:endParaRPr/>
          </a:p>
          <a:p>
            <a:pPr indent="0" lvl="0" marL="0" rtl="0" algn="just">
              <a:lnSpc>
                <a:spcPct val="100000"/>
              </a:lnSpc>
              <a:spcBef>
                <a:spcPts val="0"/>
              </a:spcBef>
              <a:spcAft>
                <a:spcPts val="0"/>
              </a:spcAft>
              <a:buClr>
                <a:srgbClr val="000000"/>
              </a:buClr>
              <a:buSzPts val="2190"/>
              <a:buFont typeface="Times"/>
              <a:buNone/>
            </a:pPr>
            <a:r>
              <a:rPr b="1" i="1" lang="en-US" sz="2190" u="sng">
                <a:latin typeface="Times"/>
                <a:ea typeface="Times"/>
                <a:cs typeface="Times"/>
                <a:sym typeface="Times"/>
              </a:rPr>
              <a:t>Encoder Module:</a:t>
            </a:r>
            <a:endParaRPr/>
          </a:p>
          <a:p>
            <a:pPr indent="-139065" lvl="0" marL="121154" rtl="0" algn="just">
              <a:lnSpc>
                <a:spcPct val="90000"/>
              </a:lnSpc>
              <a:spcBef>
                <a:spcPts val="500"/>
              </a:spcBef>
              <a:spcAft>
                <a:spcPts val="0"/>
              </a:spcAft>
              <a:buClr>
                <a:srgbClr val="000000"/>
              </a:buClr>
              <a:buSzPts val="2190"/>
              <a:buChar char="•"/>
            </a:pPr>
            <a:r>
              <a:rPr lang="en-US" sz="2190"/>
              <a:t>Image from rectified module is forwarded to the encoder module(ResNet based CNN followed by 2-layer Bidirectional LSTM (BiLSTM)).</a:t>
            </a:r>
            <a:endParaRPr/>
          </a:p>
          <a:p>
            <a:pPr indent="-139065" lvl="0" marL="121154" rtl="0" algn="just">
              <a:lnSpc>
                <a:spcPct val="90000"/>
              </a:lnSpc>
              <a:spcBef>
                <a:spcPts val="500"/>
              </a:spcBef>
              <a:spcAft>
                <a:spcPts val="0"/>
              </a:spcAft>
              <a:buClr>
                <a:srgbClr val="000000"/>
              </a:buClr>
              <a:buSzPts val="2190"/>
              <a:buChar char="•"/>
            </a:pPr>
            <a:r>
              <a:rPr lang="en-US" sz="2190"/>
              <a:t>Encoder module gives a feature sequence as the output.</a:t>
            </a:r>
            <a:endParaRPr/>
          </a:p>
          <a:p>
            <a:pPr indent="0" lvl="0" marL="0" rtl="0" algn="just">
              <a:lnSpc>
                <a:spcPct val="146118"/>
              </a:lnSpc>
              <a:spcBef>
                <a:spcPts val="0"/>
              </a:spcBef>
              <a:spcAft>
                <a:spcPts val="0"/>
              </a:spcAft>
              <a:buClr>
                <a:srgbClr val="000000"/>
              </a:buClr>
              <a:buSzPts val="2190"/>
              <a:buFont typeface="Times"/>
              <a:buNone/>
            </a:pPr>
            <a:r>
              <a:rPr b="1" i="1" lang="en-US" sz="2190" u="sng">
                <a:latin typeface="Times"/>
                <a:ea typeface="Times"/>
                <a:cs typeface="Times"/>
                <a:sym typeface="Times"/>
              </a:rPr>
              <a:t>Semantic Module:</a:t>
            </a:r>
            <a:endParaRPr/>
          </a:p>
          <a:p>
            <a:pPr indent="-139065" lvl="0" marL="121154" rtl="0" algn="just">
              <a:lnSpc>
                <a:spcPct val="90000"/>
              </a:lnSpc>
              <a:spcBef>
                <a:spcPts val="500"/>
              </a:spcBef>
              <a:spcAft>
                <a:spcPts val="0"/>
              </a:spcAft>
              <a:buClr>
                <a:srgbClr val="000000"/>
              </a:buClr>
              <a:buSzPts val="2190"/>
              <a:buChar char="•"/>
            </a:pPr>
            <a:r>
              <a:rPr lang="en-US" sz="2190"/>
              <a:t>The semantic module uses feature sequence  for accurately predicting characters.</a:t>
            </a:r>
            <a:endParaRPr/>
          </a:p>
          <a:p>
            <a:pPr indent="-139065" lvl="0" marL="121154" rtl="0" algn="just">
              <a:lnSpc>
                <a:spcPct val="90000"/>
              </a:lnSpc>
              <a:spcBef>
                <a:spcPts val="500"/>
              </a:spcBef>
              <a:spcAft>
                <a:spcPts val="0"/>
              </a:spcAft>
              <a:buClr>
                <a:srgbClr val="000000"/>
              </a:buClr>
              <a:buSzPts val="2190"/>
              <a:buChar char="•"/>
            </a:pPr>
            <a:r>
              <a:rPr lang="en-US" sz="2190"/>
              <a:t>Word embedding from pre-trained language model (FastText) acts as a supervisor to predict semantic information.</a:t>
            </a:r>
            <a:endParaRPr/>
          </a:p>
          <a:p>
            <a:pPr indent="-139065" lvl="0" marL="121154" rtl="0" algn="just">
              <a:lnSpc>
                <a:spcPct val="90000"/>
              </a:lnSpc>
              <a:spcBef>
                <a:spcPts val="500"/>
              </a:spcBef>
              <a:spcAft>
                <a:spcPts val="0"/>
              </a:spcAft>
              <a:buClr>
                <a:srgbClr val="000000"/>
              </a:buClr>
              <a:buSzPts val="2190"/>
              <a:buChar char="•"/>
            </a:pPr>
            <a:r>
              <a:rPr lang="en-US" sz="2190"/>
              <a:t>Embedding vectors of all subwords combined to represent corresponding word.</a:t>
            </a:r>
            <a:endParaRPr/>
          </a:p>
        </p:txBody>
      </p:sp>
      <p:sp>
        <p:nvSpPr>
          <p:cNvPr id="74" name="Google Shape;74;p4"/>
          <p:cNvSpPr txBox="1"/>
          <p:nvPr/>
        </p:nvSpPr>
        <p:spPr>
          <a:xfrm>
            <a:off x="883919" y="6414761"/>
            <a:ext cx="2651762" cy="248306"/>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888888"/>
              </a:buClr>
              <a:buSzPts val="1200"/>
              <a:buFont typeface="Calibri"/>
              <a:buNone/>
            </a:pPr>
            <a:r>
              <a:rPr b="0" i="0" lang="en-US" sz="1200" u="none" cap="none" strike="noStrike">
                <a:solidFill>
                  <a:srgbClr val="888888"/>
                </a:solidFill>
                <a:latin typeface="Calibri"/>
                <a:ea typeface="Calibri"/>
                <a:cs typeface="Calibri"/>
                <a:sym typeface="Calibri"/>
              </a:rPr>
              <a:t>23-05-2023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5"/>
          <p:cNvSpPr txBox="1"/>
          <p:nvPr>
            <p:ph idx="4294967295" type="ctrTitle"/>
          </p:nvPr>
        </p:nvSpPr>
        <p:spPr>
          <a:xfrm>
            <a:off x="111188" y="1595535"/>
            <a:ext cx="11969624" cy="4976715"/>
          </a:xfrm>
          <a:prstGeom prst="rect">
            <a:avLst/>
          </a:prstGeom>
          <a:noFill/>
          <a:ln>
            <a:noFill/>
          </a:ln>
        </p:spPr>
        <p:txBody>
          <a:bodyPr anchorCtr="0" anchor="t" bIns="45700" lIns="45700" spcFirstLastPara="1" rIns="45700" wrap="square" tIns="45700">
            <a:normAutofit/>
          </a:bodyPr>
          <a:lstStyle/>
          <a:p>
            <a:pPr indent="0" lvl="0" marL="0" marR="0" rtl="0" algn="just">
              <a:lnSpc>
                <a:spcPct val="90000"/>
              </a:lnSpc>
              <a:spcBef>
                <a:spcPts val="0"/>
              </a:spcBef>
              <a:spcAft>
                <a:spcPts val="0"/>
              </a:spcAft>
              <a:buClr>
                <a:srgbClr val="000000"/>
              </a:buClr>
              <a:buSzPts val="2652"/>
              <a:buFont typeface="Arial Black"/>
              <a:buNone/>
            </a:pPr>
            <a:r>
              <a:rPr b="0" i="0" lang="en-US" sz="2652" u="none" cap="none" strike="noStrike">
                <a:solidFill>
                  <a:srgbClr val="000000"/>
                </a:solidFill>
                <a:latin typeface="Arial Black"/>
                <a:ea typeface="Arial Black"/>
                <a:cs typeface="Arial Black"/>
                <a:sym typeface="Arial Black"/>
              </a:rPr>
              <a:t>Project Implementation &amp; Execution (100%):</a:t>
            </a:r>
            <a:endParaRPr b="0" i="0" sz="1632" u="none" cap="none" strike="noStrike">
              <a:solidFill>
                <a:srgbClr val="000000"/>
              </a:solidFill>
              <a:latin typeface="Arial Black"/>
              <a:ea typeface="Arial Black"/>
              <a:cs typeface="Arial Black"/>
              <a:sym typeface="Arial Black"/>
            </a:endParaRPr>
          </a:p>
          <a:p>
            <a:pPr indent="0" lvl="0" marL="0" marR="0" rtl="0" algn="just">
              <a:lnSpc>
                <a:spcPct val="90000"/>
              </a:lnSpc>
              <a:spcBef>
                <a:spcPts val="0"/>
              </a:spcBef>
              <a:spcAft>
                <a:spcPts val="0"/>
              </a:spcAft>
              <a:buClr>
                <a:srgbClr val="FF5050"/>
              </a:buClr>
              <a:buSzPts val="1632"/>
              <a:buFont typeface="Calibri"/>
              <a:buNone/>
            </a:pPr>
            <a:r>
              <a:t/>
            </a:r>
            <a:endParaRPr b="0" i="0" sz="1632" u="none" cap="none" strike="noStrike">
              <a:solidFill>
                <a:srgbClr val="000000"/>
              </a:solidFill>
              <a:latin typeface="Arial Black"/>
              <a:ea typeface="Arial Black"/>
              <a:cs typeface="Arial Black"/>
              <a:sym typeface="Arial Black"/>
            </a:endParaRPr>
          </a:p>
          <a:p>
            <a:pPr indent="0" lvl="0" marL="0" marR="0" rtl="0" algn="just">
              <a:lnSpc>
                <a:spcPct val="90000"/>
              </a:lnSpc>
              <a:spcBef>
                <a:spcPts val="0"/>
              </a:spcBef>
              <a:spcAft>
                <a:spcPts val="0"/>
              </a:spcAft>
              <a:buClr>
                <a:srgbClr val="FF5050"/>
              </a:buClr>
              <a:buSzPts val="1632"/>
              <a:buFont typeface="Calibri"/>
              <a:buNone/>
            </a:pPr>
            <a:r>
              <a:t/>
            </a:r>
            <a:endParaRPr b="0" i="0" sz="1632" u="none" cap="none" strike="noStrike">
              <a:solidFill>
                <a:srgbClr val="000000"/>
              </a:solidFill>
              <a:latin typeface="Arial Black"/>
              <a:ea typeface="Arial Black"/>
              <a:cs typeface="Arial Black"/>
              <a:sym typeface="Arial Black"/>
            </a:endParaRPr>
          </a:p>
          <a:p>
            <a:pPr indent="-342900" lvl="0" marL="342900" marR="0" rtl="0" algn="just">
              <a:lnSpc>
                <a:spcPct val="90000"/>
              </a:lnSpc>
              <a:spcBef>
                <a:spcPts val="600"/>
              </a:spcBef>
              <a:spcAft>
                <a:spcPts val="0"/>
              </a:spcAft>
              <a:buClr>
                <a:srgbClr val="000000"/>
              </a:buClr>
              <a:buSzPts val="2176"/>
              <a:buFont typeface="Arial"/>
              <a:buChar char="•"/>
            </a:pPr>
            <a:r>
              <a:rPr b="0" i="0" lang="en-US" sz="2176" u="none" cap="none" strike="noStrike">
                <a:solidFill>
                  <a:srgbClr val="000000"/>
                </a:solidFill>
                <a:latin typeface="Calibri"/>
                <a:ea typeface="Calibri"/>
                <a:cs typeface="Calibri"/>
                <a:sym typeface="Calibri"/>
              </a:rPr>
              <a:t>In this project, we use word embedding based on skip-gram from FastText, a pre-trained language model.</a:t>
            </a:r>
            <a:endParaRPr/>
          </a:p>
          <a:p>
            <a:pPr indent="-342900" lvl="0" marL="342900" marR="0" rtl="0" algn="just">
              <a:lnSpc>
                <a:spcPct val="90000"/>
              </a:lnSpc>
              <a:spcBef>
                <a:spcPts val="600"/>
              </a:spcBef>
              <a:spcAft>
                <a:spcPts val="0"/>
              </a:spcAft>
              <a:buClr>
                <a:srgbClr val="000000"/>
              </a:buClr>
              <a:buSzPts val="2176"/>
              <a:buFont typeface="Arial"/>
              <a:buChar char="•"/>
            </a:pPr>
            <a:r>
              <a:rPr b="0" i="0" lang="en-US" sz="2176" u="none" cap="none" strike="noStrike">
                <a:solidFill>
                  <a:srgbClr val="000000"/>
                </a:solidFill>
                <a:latin typeface="Calibri"/>
                <a:ea typeface="Calibri"/>
                <a:cs typeface="Calibri"/>
                <a:sym typeface="Calibri"/>
              </a:rPr>
              <a:t>A word wi is represented by a embedding vector vi .</a:t>
            </a:r>
            <a:endParaRPr/>
          </a:p>
          <a:p>
            <a:pPr indent="-342900" lvl="0" marL="342900" marR="0" rtl="0" algn="just">
              <a:lnSpc>
                <a:spcPct val="90000"/>
              </a:lnSpc>
              <a:spcBef>
                <a:spcPts val="600"/>
              </a:spcBef>
              <a:spcAft>
                <a:spcPts val="0"/>
              </a:spcAft>
              <a:buClr>
                <a:srgbClr val="000000"/>
              </a:buClr>
              <a:buSzPts val="2176"/>
              <a:buFont typeface="Arial"/>
              <a:buChar char="•"/>
            </a:pPr>
            <a:r>
              <a:rPr b="0" i="0" lang="en-US" sz="2176" u="none" cap="none" strike="noStrike">
                <a:solidFill>
                  <a:srgbClr val="000000"/>
                </a:solidFill>
                <a:latin typeface="Calibri"/>
                <a:ea typeface="Calibri"/>
                <a:cs typeface="Calibri"/>
                <a:sym typeface="Calibri"/>
              </a:rPr>
              <a:t>The embedded representation vi of a word wi inputs to a simple feed-forward neural network.</a:t>
            </a:r>
            <a:endParaRPr/>
          </a:p>
          <a:p>
            <a:pPr indent="-342900" lvl="0" marL="342900" marR="0" rtl="0" algn="just">
              <a:lnSpc>
                <a:spcPct val="90000"/>
              </a:lnSpc>
              <a:spcBef>
                <a:spcPts val="600"/>
              </a:spcBef>
              <a:spcAft>
                <a:spcPts val="0"/>
              </a:spcAft>
              <a:buClr>
                <a:srgbClr val="000000"/>
              </a:buClr>
              <a:buSzPts val="2176"/>
              <a:buFont typeface="Arial"/>
              <a:buChar char="•"/>
            </a:pPr>
            <a:r>
              <a:rPr b="0" i="0" lang="en-US" sz="2176" u="none" cap="none" strike="noStrike">
                <a:solidFill>
                  <a:srgbClr val="000000"/>
                </a:solidFill>
                <a:latin typeface="Calibri"/>
                <a:ea typeface="Calibri"/>
                <a:cs typeface="Calibri"/>
                <a:sym typeface="Calibri"/>
              </a:rPr>
              <a:t>The input embedding vector vi is simultaneously optimized through the feed- forward network training. </a:t>
            </a:r>
            <a:endParaRPr/>
          </a:p>
          <a:p>
            <a:pPr indent="-342900" lvl="0" marL="342900" marR="0" rtl="0" algn="just">
              <a:lnSpc>
                <a:spcPct val="90000"/>
              </a:lnSpc>
              <a:spcBef>
                <a:spcPts val="600"/>
              </a:spcBef>
              <a:spcAft>
                <a:spcPts val="0"/>
              </a:spcAft>
              <a:buClr>
                <a:srgbClr val="000000"/>
              </a:buClr>
              <a:buSzPts val="2176"/>
              <a:buFont typeface="Arial"/>
              <a:buChar char="•"/>
            </a:pPr>
            <a:r>
              <a:rPr b="0" i="0" lang="en-US" sz="2176" u="none" cap="none" strike="noStrike">
                <a:solidFill>
                  <a:srgbClr val="000000"/>
                </a:solidFill>
                <a:latin typeface="Calibri"/>
                <a:ea typeface="Calibri"/>
                <a:cs typeface="Calibri"/>
                <a:sym typeface="Calibri"/>
              </a:rPr>
              <a:t>Finally, the optimized embedding vector of a word is very close to the words with similar semantics. </a:t>
            </a:r>
            <a:endParaRPr/>
          </a:p>
          <a:p>
            <a:pPr indent="-342900" lvl="0" marL="342900" marR="0" rtl="0" algn="just">
              <a:lnSpc>
                <a:spcPct val="90000"/>
              </a:lnSpc>
              <a:spcBef>
                <a:spcPts val="600"/>
              </a:spcBef>
              <a:spcAft>
                <a:spcPts val="0"/>
              </a:spcAft>
              <a:buClr>
                <a:srgbClr val="000000"/>
              </a:buClr>
              <a:buSzPts val="2176"/>
              <a:buFont typeface="Arial"/>
              <a:buChar char="•"/>
            </a:pPr>
            <a:r>
              <a:rPr b="0" i="0" lang="en-US" sz="2176" u="none" cap="none" strike="noStrike">
                <a:solidFill>
                  <a:srgbClr val="000000"/>
                </a:solidFill>
                <a:latin typeface="Calibri"/>
                <a:ea typeface="Calibri"/>
                <a:cs typeface="Calibri"/>
                <a:sym typeface="Calibri"/>
              </a:rPr>
              <a:t>FastText embeds subwords and uses them to generate the final embedding of the word wi. </a:t>
            </a:r>
            <a:endParaRPr/>
          </a:p>
          <a:p>
            <a:pPr indent="-342900" lvl="0" marL="342900" marR="0" rtl="0" algn="just">
              <a:lnSpc>
                <a:spcPct val="90000"/>
              </a:lnSpc>
              <a:spcBef>
                <a:spcPts val="600"/>
              </a:spcBef>
              <a:spcAft>
                <a:spcPts val="0"/>
              </a:spcAft>
              <a:buClr>
                <a:srgbClr val="000000"/>
              </a:buClr>
              <a:buSzPts val="2176"/>
              <a:buFont typeface="Arial"/>
              <a:buChar char="•"/>
            </a:pPr>
            <a:r>
              <a:rPr b="0" i="0" lang="en-US" sz="2176" u="none" cap="none" strike="noStrike">
                <a:solidFill>
                  <a:srgbClr val="000000"/>
                </a:solidFill>
                <a:latin typeface="Calibri"/>
                <a:ea typeface="Calibri"/>
                <a:cs typeface="Calibri"/>
                <a:sym typeface="Calibri"/>
              </a:rPr>
              <a:t>Embedding vectors of all subwords are combined to represent the corresponding word.</a:t>
            </a:r>
            <a:endParaRPr b="0" i="0" sz="1632" u="none" cap="none" strike="noStrike">
              <a:solidFill>
                <a:srgbClr val="000000"/>
              </a:solidFill>
              <a:latin typeface="Arial Black"/>
              <a:ea typeface="Arial Black"/>
              <a:cs typeface="Arial Black"/>
              <a:sym typeface="Arial Black"/>
            </a:endParaRPr>
          </a:p>
          <a:p>
            <a:pPr indent="-285750" lvl="0" marL="285750" marR="0" rtl="0" algn="just">
              <a:lnSpc>
                <a:spcPct val="90000"/>
              </a:lnSpc>
              <a:spcBef>
                <a:spcPts val="0"/>
              </a:spcBef>
              <a:spcAft>
                <a:spcPts val="0"/>
              </a:spcAft>
              <a:buClr>
                <a:srgbClr val="000000"/>
              </a:buClr>
              <a:buSzPts val="1632"/>
              <a:buFont typeface="Arial"/>
              <a:buChar char="•"/>
            </a:pPr>
            <a:br>
              <a:rPr b="0" i="0" lang="en-US" sz="1632" u="none" cap="none" strike="noStrike">
                <a:solidFill>
                  <a:srgbClr val="000000"/>
                </a:solidFill>
                <a:latin typeface="Arial Black"/>
                <a:ea typeface="Arial Black"/>
                <a:cs typeface="Arial Black"/>
                <a:sym typeface="Arial Black"/>
              </a:rPr>
            </a:br>
            <a:br>
              <a:rPr b="0" i="0" lang="en-US" sz="1632" u="none" cap="none" strike="noStrike">
                <a:solidFill>
                  <a:srgbClr val="000000"/>
                </a:solidFill>
                <a:latin typeface="Arial Black"/>
                <a:ea typeface="Arial Black"/>
                <a:cs typeface="Arial Black"/>
                <a:sym typeface="Arial Black"/>
              </a:rPr>
            </a:br>
            <a:endParaRPr b="0" i="0" sz="1632" u="none" cap="none" strike="noStrike">
              <a:solidFill>
                <a:srgbClr val="000000"/>
              </a:solidFill>
              <a:latin typeface="Arial Black"/>
              <a:ea typeface="Arial Black"/>
              <a:cs typeface="Arial Black"/>
              <a:sym typeface="Arial Black"/>
            </a:endParaRPr>
          </a:p>
        </p:txBody>
      </p:sp>
      <p:pic>
        <p:nvPicPr>
          <p:cNvPr descr="Picture 2" id="80" name="Google Shape;80;p5"/>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81" name="Google Shape;81;p5"/>
          <p:cNvSpPr txBox="1"/>
          <p:nvPr/>
        </p:nvSpPr>
        <p:spPr>
          <a:xfrm>
            <a:off x="1331794" y="102214"/>
            <a:ext cx="10658980" cy="1107996"/>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MINI Project Review</a:t>
            </a:r>
            <a:endParaRPr/>
          </a:p>
        </p:txBody>
      </p:sp>
      <p:sp>
        <p:nvSpPr>
          <p:cNvPr id="82" name="Google Shape;82;p5"/>
          <p:cNvSpPr txBox="1"/>
          <p:nvPr/>
        </p:nvSpPr>
        <p:spPr>
          <a:xfrm>
            <a:off x="883919" y="6414761"/>
            <a:ext cx="2651762" cy="248306"/>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888888"/>
              </a:buClr>
              <a:buSzPts val="1200"/>
              <a:buFont typeface="Calibri"/>
              <a:buNone/>
            </a:pPr>
            <a:r>
              <a:rPr b="0" i="0" lang="en-US" sz="1200" u="none" cap="none" strike="noStrike">
                <a:solidFill>
                  <a:srgbClr val="888888"/>
                </a:solidFill>
                <a:latin typeface="Calibri"/>
                <a:ea typeface="Calibri"/>
                <a:cs typeface="Calibri"/>
                <a:sym typeface="Calibri"/>
              </a:rPr>
              <a:t>23-05-2023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grpSp>
        <p:nvGrpSpPr>
          <p:cNvPr id="87" name="Google Shape;87;p6"/>
          <p:cNvGrpSpPr/>
          <p:nvPr/>
        </p:nvGrpSpPr>
        <p:grpSpPr>
          <a:xfrm>
            <a:off x="602844" y="455446"/>
            <a:ext cx="10986313" cy="6210590"/>
            <a:chOff x="0" y="0"/>
            <a:chExt cx="10986311" cy="6210588"/>
          </a:xfrm>
        </p:grpSpPr>
        <p:pic>
          <p:nvPicPr>
            <p:cNvPr descr="Screenshot 2023-05-29 at 9.27.11 PM.png" id="88" name="Google Shape;88;p6"/>
            <p:cNvPicPr preferRelativeResize="0"/>
            <p:nvPr/>
          </p:nvPicPr>
          <p:blipFill rotWithShape="1">
            <a:blip r:embed="rId3">
              <a:alphaModFix/>
            </a:blip>
            <a:srcRect b="0" l="597" r="596" t="0"/>
            <a:stretch/>
          </p:blipFill>
          <p:spPr>
            <a:xfrm>
              <a:off x="0" y="0"/>
              <a:ext cx="10986311" cy="5740341"/>
            </a:xfrm>
            <a:prstGeom prst="rect">
              <a:avLst/>
            </a:prstGeom>
            <a:noFill/>
            <a:ln>
              <a:noFill/>
            </a:ln>
          </p:spPr>
        </p:pic>
        <p:sp>
          <p:nvSpPr>
            <p:cNvPr id="89" name="Google Shape;89;p6"/>
            <p:cNvSpPr/>
            <p:nvPr/>
          </p:nvSpPr>
          <p:spPr>
            <a:xfrm>
              <a:off x="0" y="5816540"/>
              <a:ext cx="10986311" cy="394048"/>
            </a:xfrm>
            <a:prstGeom prst="rect">
              <a:avLst/>
            </a:prstGeom>
            <a:noFill/>
            <a:ln>
              <a:noFill/>
            </a:ln>
          </p:spPr>
          <p:txBody>
            <a:bodyPr anchorCtr="0" anchor="t" bIns="76200" lIns="76200" spcFirstLastPara="1" rIns="76200" wrap="square" tIns="762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Fig 2.Giving the fast text model as input</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7"/>
          <p:cNvGrpSpPr/>
          <p:nvPr/>
        </p:nvGrpSpPr>
        <p:grpSpPr>
          <a:xfrm>
            <a:off x="1039189" y="218790"/>
            <a:ext cx="10113623" cy="6604001"/>
            <a:chOff x="0" y="0"/>
            <a:chExt cx="10113621" cy="6604000"/>
          </a:xfrm>
        </p:grpSpPr>
        <p:pic>
          <p:nvPicPr>
            <p:cNvPr descr="Screenshot 2023-05-29 at 9.28.56 PM.png" id="95" name="Google Shape;95;p7"/>
            <p:cNvPicPr preferRelativeResize="0"/>
            <p:nvPr/>
          </p:nvPicPr>
          <p:blipFill rotWithShape="1">
            <a:blip r:embed="rId3">
              <a:alphaModFix/>
            </a:blip>
            <a:srcRect b="1307" l="0" r="0" t="1307"/>
            <a:stretch/>
          </p:blipFill>
          <p:spPr>
            <a:xfrm>
              <a:off x="0" y="0"/>
              <a:ext cx="10113621" cy="6133753"/>
            </a:xfrm>
            <a:prstGeom prst="rect">
              <a:avLst/>
            </a:prstGeom>
            <a:noFill/>
            <a:ln>
              <a:noFill/>
            </a:ln>
          </p:spPr>
        </p:pic>
        <p:sp>
          <p:nvSpPr>
            <p:cNvPr id="96" name="Google Shape;96;p7"/>
            <p:cNvSpPr/>
            <p:nvPr/>
          </p:nvSpPr>
          <p:spPr>
            <a:xfrm>
              <a:off x="0" y="6209952"/>
              <a:ext cx="10113621" cy="394048"/>
            </a:xfrm>
            <a:prstGeom prst="rect">
              <a:avLst/>
            </a:prstGeom>
            <a:noFill/>
            <a:ln>
              <a:noFill/>
            </a:ln>
          </p:spPr>
          <p:txBody>
            <a:bodyPr anchorCtr="0" anchor="t" bIns="76200" lIns="76200" spcFirstLastPara="1" rIns="76200" wrap="square" tIns="762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Fig 3. Generating  synthetic data</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grpSp>
        <p:nvGrpSpPr>
          <p:cNvPr id="101" name="Google Shape;101;p8"/>
          <p:cNvGrpSpPr/>
          <p:nvPr/>
        </p:nvGrpSpPr>
        <p:grpSpPr>
          <a:xfrm>
            <a:off x="893900" y="173166"/>
            <a:ext cx="10404201" cy="6604001"/>
            <a:chOff x="0" y="0"/>
            <a:chExt cx="10404200" cy="6604000"/>
          </a:xfrm>
        </p:grpSpPr>
        <p:pic>
          <p:nvPicPr>
            <p:cNvPr descr="Screenshot 2023-05-29 at 9.29.25 PM.png" id="102" name="Google Shape;102;p8"/>
            <p:cNvPicPr preferRelativeResize="0"/>
            <p:nvPr/>
          </p:nvPicPr>
          <p:blipFill rotWithShape="1">
            <a:blip r:embed="rId3">
              <a:alphaModFix/>
            </a:blip>
            <a:srcRect b="2218" l="0" r="0" t="2219"/>
            <a:stretch/>
          </p:blipFill>
          <p:spPr>
            <a:xfrm>
              <a:off x="0" y="0"/>
              <a:ext cx="10404200" cy="6133753"/>
            </a:xfrm>
            <a:prstGeom prst="rect">
              <a:avLst/>
            </a:prstGeom>
            <a:noFill/>
            <a:ln>
              <a:noFill/>
            </a:ln>
          </p:spPr>
        </p:pic>
        <p:sp>
          <p:nvSpPr>
            <p:cNvPr id="103" name="Google Shape;103;p8"/>
            <p:cNvSpPr/>
            <p:nvPr/>
          </p:nvSpPr>
          <p:spPr>
            <a:xfrm>
              <a:off x="0" y="6209952"/>
              <a:ext cx="10404200" cy="394048"/>
            </a:xfrm>
            <a:prstGeom prst="rect">
              <a:avLst/>
            </a:prstGeom>
            <a:noFill/>
            <a:ln>
              <a:noFill/>
            </a:ln>
          </p:spPr>
          <p:txBody>
            <a:bodyPr anchorCtr="0" anchor="t" bIns="76200" lIns="76200" spcFirstLastPara="1" rIns="76200" wrap="square" tIns="762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Fig 4. Giving the datasets as input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9"/>
          <p:cNvSpPr txBox="1"/>
          <p:nvPr/>
        </p:nvSpPr>
        <p:spPr>
          <a:xfrm>
            <a:off x="869658" y="1191237"/>
            <a:ext cx="10452683" cy="707884"/>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4000"/>
              <a:buFont typeface="Calibri"/>
              <a:buNone/>
            </a:pPr>
            <a:r>
              <a:rPr b="1" i="0" lang="en-US" sz="4000" u="none" cap="none" strike="noStrike">
                <a:solidFill>
                  <a:srgbClr val="000000"/>
                </a:solidFill>
                <a:latin typeface="Calibri"/>
                <a:ea typeface="Calibri"/>
                <a:cs typeface="Calibri"/>
                <a:sym typeface="Calibri"/>
              </a:rPr>
              <a:t>Output:</a:t>
            </a:r>
            <a:endParaRPr b="1" i="0" sz="4000" u="none" cap="none" strike="noStrike">
              <a:solidFill>
                <a:srgbClr val="000000"/>
              </a:solidFill>
              <a:latin typeface="Calibri"/>
              <a:ea typeface="Calibri"/>
              <a:cs typeface="Calibri"/>
              <a:sym typeface="Calibri"/>
            </a:endParaRPr>
          </a:p>
        </p:txBody>
      </p:sp>
      <p:pic>
        <p:nvPicPr>
          <p:cNvPr id="109" name="Google Shape;109;p9"/>
          <p:cNvPicPr preferRelativeResize="0"/>
          <p:nvPr/>
        </p:nvPicPr>
        <p:blipFill rotWithShape="1">
          <a:blip r:embed="rId3">
            <a:alphaModFix/>
          </a:blip>
          <a:srcRect b="0" l="0" r="0" t="0"/>
          <a:stretch/>
        </p:blipFill>
        <p:spPr>
          <a:xfrm>
            <a:off x="934432" y="2423465"/>
            <a:ext cx="9083830" cy="234987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0"/>
          <p:cNvSpPr txBox="1"/>
          <p:nvPr>
            <p:ph type="title"/>
          </p:nvPr>
        </p:nvSpPr>
        <p:spPr>
          <a:xfrm>
            <a:off x="1223395" y="500062"/>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1" lang="en-US"/>
              <a:t>Results</a:t>
            </a:r>
            <a:endParaRPr/>
          </a:p>
        </p:txBody>
      </p:sp>
      <p:sp>
        <p:nvSpPr>
          <p:cNvPr id="115" name="Google Shape;115;p10"/>
          <p:cNvSpPr txBox="1"/>
          <p:nvPr>
            <p:ph idx="1" type="body"/>
          </p:nvPr>
        </p:nvSpPr>
        <p:spPr>
          <a:xfrm>
            <a:off x="628475" y="2187576"/>
            <a:ext cx="10515600" cy="4351338"/>
          </a:xfrm>
          <a:prstGeom prst="rect">
            <a:avLst/>
          </a:prstGeom>
          <a:noFill/>
          <a:ln>
            <a:noFill/>
          </a:ln>
        </p:spPr>
        <p:txBody>
          <a:bodyPr anchorCtr="0" anchor="t" bIns="45700" lIns="45700" spcFirstLastPara="1" rIns="45700" wrap="square" tIns="45700">
            <a:normAutofit/>
          </a:bodyPr>
          <a:lstStyle/>
          <a:p>
            <a:pPr indent="-228592" lvl="1" marL="685782" rtl="0" algn="just">
              <a:lnSpc>
                <a:spcPct val="90000"/>
              </a:lnSpc>
              <a:spcBef>
                <a:spcPts val="0"/>
              </a:spcBef>
              <a:spcAft>
                <a:spcPts val="0"/>
              </a:spcAft>
              <a:buClr>
                <a:srgbClr val="000000"/>
              </a:buClr>
              <a:buSzPts val="2800"/>
              <a:buChar char="•"/>
            </a:pPr>
            <a:r>
              <a:rPr lang="en-US"/>
              <a:t>Using the fasttext we are able to successfully create synthetic data for Kannada , Tamil datasets. The datasets are divided into training ,testing and validation . The Synthetic data generated are found to be in the mdb format(Microsoft Access desktop database management system</a:t>
            </a:r>
            <a:r>
              <a:rPr lang="en-US" sz="1200"/>
              <a:t> </a:t>
            </a:r>
            <a:r>
              <a:rPr lang="en-US"/>
              <a:t>).For each language the mdb files are created for training ,testing and validation datasets.</a:t>
            </a:r>
            <a:endParaRPr/>
          </a:p>
        </p:txBody>
      </p:sp>
      <p:sp>
        <p:nvSpPr>
          <p:cNvPr id="116" name="Google Shape;116;p10"/>
          <p:cNvSpPr txBox="1"/>
          <p:nvPr/>
        </p:nvSpPr>
        <p:spPr>
          <a:xfrm>
            <a:off x="883919" y="6414761"/>
            <a:ext cx="2651762" cy="248306"/>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888888"/>
              </a:buClr>
              <a:buSzPts val="1200"/>
              <a:buFont typeface="Calibri"/>
              <a:buNone/>
            </a:pPr>
            <a:r>
              <a:rPr b="0" i="0" lang="en-US" sz="1200" u="none" cap="none" strike="noStrike">
                <a:solidFill>
                  <a:srgbClr val="888888"/>
                </a:solidFill>
                <a:latin typeface="Calibri"/>
                <a:ea typeface="Calibri"/>
                <a:cs typeface="Calibri"/>
                <a:sym typeface="Calibri"/>
              </a:rPr>
              <a:t>23-05-2023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1"/>
          <p:cNvSpPr txBox="1"/>
          <p:nvPr>
            <p:ph type="title"/>
          </p:nvPr>
        </p:nvSpPr>
        <p:spPr>
          <a:xfrm>
            <a:off x="838200" y="365127"/>
            <a:ext cx="10515600" cy="1015976"/>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3100"/>
              <a:buFont typeface="Calibri"/>
              <a:buNone/>
            </a:pPr>
            <a:r>
              <a:rPr lang="en-US" sz="3100"/>
              <a:t>Generated Synthetic files</a:t>
            </a:r>
            <a:endParaRPr/>
          </a:p>
        </p:txBody>
      </p:sp>
      <p:grpSp>
        <p:nvGrpSpPr>
          <p:cNvPr id="122" name="Google Shape;122;p11"/>
          <p:cNvGrpSpPr/>
          <p:nvPr/>
        </p:nvGrpSpPr>
        <p:grpSpPr>
          <a:xfrm>
            <a:off x="119250" y="1551001"/>
            <a:ext cx="11953501" cy="4747764"/>
            <a:chOff x="0" y="0"/>
            <a:chExt cx="11953500" cy="4747763"/>
          </a:xfrm>
        </p:grpSpPr>
        <p:pic>
          <p:nvPicPr>
            <p:cNvPr descr="Screenshot 2023-05-30 at 12.28.11 PM.png" id="123" name="Google Shape;123;p11"/>
            <p:cNvPicPr preferRelativeResize="0"/>
            <p:nvPr/>
          </p:nvPicPr>
          <p:blipFill rotWithShape="1">
            <a:blip r:embed="rId3">
              <a:alphaModFix/>
            </a:blip>
            <a:srcRect b="0" l="243" r="243" t="0"/>
            <a:stretch/>
          </p:blipFill>
          <p:spPr>
            <a:xfrm>
              <a:off x="0" y="0"/>
              <a:ext cx="11953500" cy="4277516"/>
            </a:xfrm>
            <a:prstGeom prst="rect">
              <a:avLst/>
            </a:prstGeom>
            <a:noFill/>
            <a:ln>
              <a:noFill/>
            </a:ln>
          </p:spPr>
        </p:pic>
        <p:sp>
          <p:nvSpPr>
            <p:cNvPr id="124" name="Google Shape;124;p11"/>
            <p:cNvSpPr/>
            <p:nvPr/>
          </p:nvSpPr>
          <p:spPr>
            <a:xfrm>
              <a:off x="0" y="4353715"/>
              <a:ext cx="11953500" cy="394048"/>
            </a:xfrm>
            <a:prstGeom prst="rect">
              <a:avLst/>
            </a:prstGeom>
            <a:noFill/>
            <a:ln>
              <a:noFill/>
            </a:ln>
          </p:spPr>
          <p:txBody>
            <a:bodyPr anchorCtr="0" anchor="t" bIns="76200" lIns="76200" spcFirstLastPara="1" rIns="76200" wrap="square" tIns="76200">
              <a:no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Fig.5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txBox="1"/>
          <p:nvPr>
            <p:ph type="title"/>
          </p:nvPr>
        </p:nvSpPr>
        <p:spPr>
          <a:xfrm>
            <a:off x="838200" y="365127"/>
            <a:ext cx="10515600" cy="1325563"/>
          </a:xfrm>
          <a:prstGeom prst="rect">
            <a:avLst/>
          </a:prstGeom>
          <a:noFill/>
          <a:ln>
            <a:noFill/>
          </a:ln>
        </p:spPr>
        <p:txBody>
          <a:bodyPr anchorCtr="0" anchor="ctr" bIns="45700" lIns="45700" spcFirstLastPara="1" rIns="45700" wrap="square" tIns="45700">
            <a:normAutofit/>
          </a:bodyPr>
          <a:lstStyle/>
          <a:p>
            <a:pPr indent="0" lvl="0" marL="0" rtl="0" algn="l">
              <a:lnSpc>
                <a:spcPct val="90000"/>
              </a:lnSpc>
              <a:spcBef>
                <a:spcPts val="0"/>
              </a:spcBef>
              <a:spcAft>
                <a:spcPts val="0"/>
              </a:spcAft>
              <a:buClr>
                <a:srgbClr val="000000"/>
              </a:buClr>
              <a:buSzPts val="4400"/>
              <a:buFont typeface="Calibri"/>
              <a:buNone/>
            </a:pPr>
            <a:r>
              <a:rPr b="1" lang="en-US"/>
              <a:t>Conclusion &amp; Further Scope</a:t>
            </a:r>
            <a:endParaRPr/>
          </a:p>
        </p:txBody>
      </p:sp>
      <p:sp>
        <p:nvSpPr>
          <p:cNvPr id="130" name="Google Shape;130;p12"/>
          <p:cNvSpPr txBox="1"/>
          <p:nvPr>
            <p:ph idx="1" type="body"/>
          </p:nvPr>
        </p:nvSpPr>
        <p:spPr>
          <a:xfrm>
            <a:off x="838200" y="1825625"/>
            <a:ext cx="10515600" cy="4351338"/>
          </a:xfrm>
          <a:prstGeom prst="rect">
            <a:avLst/>
          </a:prstGeom>
          <a:noFill/>
          <a:ln>
            <a:noFill/>
          </a:ln>
        </p:spPr>
        <p:txBody>
          <a:bodyPr anchorCtr="0" anchor="t" bIns="45700" lIns="45700" spcFirstLastPara="1" rIns="45700" wrap="square" tIns="45700">
            <a:normAutofit/>
          </a:bodyPr>
          <a:lstStyle/>
          <a:p>
            <a:pPr indent="0" lvl="0" marL="0" rtl="0" algn="just">
              <a:lnSpc>
                <a:spcPct val="100000"/>
              </a:lnSpc>
              <a:spcBef>
                <a:spcPts val="0"/>
              </a:spcBef>
              <a:spcAft>
                <a:spcPts val="0"/>
              </a:spcAft>
              <a:buClr>
                <a:srgbClr val="000000"/>
              </a:buClr>
              <a:buSzPts val="2600"/>
              <a:buFont typeface="Times"/>
              <a:buNone/>
            </a:pPr>
            <a:r>
              <a:rPr lang="en-US" sz="2600"/>
              <a:t>Thus , the synthetic data can be generated for any language by using pre-trained language model, FastText. We have synthesized the original dataset to make it fit for training and testing. During the decoding phase, the predicted global semantic information(synthetic data) can be used to initialize the decoder to recognize the text accurately during decoding for word images having incomplete and blurred characters.</a:t>
            </a:r>
            <a:r>
              <a:rPr lang="en-US"/>
              <a:t> </a:t>
            </a:r>
            <a:r>
              <a:rPr lang="en-US" sz="2600"/>
              <a:t>The semantic information will provide an effective global feature to the decoder, robust to the interference in the images</a:t>
            </a:r>
            <a:r>
              <a:rPr lang="en-US"/>
              <a:t> .</a:t>
            </a:r>
            <a:endParaRPr sz="1200"/>
          </a:p>
        </p:txBody>
      </p:sp>
      <p:sp>
        <p:nvSpPr>
          <p:cNvPr id="131" name="Google Shape;131;p12"/>
          <p:cNvSpPr txBox="1"/>
          <p:nvPr/>
        </p:nvSpPr>
        <p:spPr>
          <a:xfrm>
            <a:off x="883919" y="6414761"/>
            <a:ext cx="2651762" cy="248306"/>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888888"/>
              </a:buClr>
              <a:buSzPts val="1200"/>
              <a:buFont typeface="Calibri"/>
              <a:buNone/>
            </a:pPr>
            <a:r>
              <a:rPr b="0" i="0" lang="en-US" sz="1200" u="none" cap="none" strike="noStrike">
                <a:solidFill>
                  <a:srgbClr val="888888"/>
                </a:solidFill>
                <a:latin typeface="Calibri"/>
                <a:ea typeface="Calibri"/>
                <a:cs typeface="Calibri"/>
                <a:sym typeface="Calibri"/>
              </a:rPr>
              <a:t>23-05-2023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txBox="1"/>
          <p:nvPr>
            <p:ph idx="4294967295" type="ctrTitle"/>
          </p:nvPr>
        </p:nvSpPr>
        <p:spPr>
          <a:xfrm>
            <a:off x="1325336" y="1320912"/>
            <a:ext cx="10487219" cy="4977253"/>
          </a:xfrm>
          <a:prstGeom prst="rect">
            <a:avLst/>
          </a:prstGeom>
          <a:noFill/>
          <a:ln>
            <a:noFill/>
          </a:ln>
        </p:spPr>
        <p:txBody>
          <a:bodyPr anchorCtr="0" anchor="b" bIns="45700" lIns="45700" spcFirstLastPara="1" rIns="45700" wrap="square" tIns="45700">
            <a:normAutofit/>
          </a:bodyPr>
          <a:lstStyle/>
          <a:p>
            <a:pPr indent="0" lvl="0" marL="0" marR="0" rtl="0" algn="ctr">
              <a:lnSpc>
                <a:spcPct val="90000"/>
              </a:lnSpc>
              <a:spcBef>
                <a:spcPts val="0"/>
              </a:spcBef>
              <a:spcAft>
                <a:spcPts val="0"/>
              </a:spcAft>
              <a:buClr>
                <a:srgbClr val="000000"/>
              </a:buClr>
              <a:buSzPts val="6700"/>
              <a:buFont typeface="Arial Rounded"/>
              <a:buNone/>
            </a:pPr>
            <a:r>
              <a:rPr b="1" i="0" lang="en-US" sz="6700" u="none" cap="none" strike="noStrike">
                <a:solidFill>
                  <a:srgbClr val="000000"/>
                </a:solidFill>
                <a:latin typeface="Arial Rounded"/>
                <a:ea typeface="Arial Rounded"/>
                <a:cs typeface="Arial Rounded"/>
                <a:sym typeface="Arial Rounded"/>
              </a:rPr>
              <a:t>Thank You </a:t>
            </a:r>
            <a:br>
              <a:rPr b="1" i="0" lang="en-US" sz="6700" u="none" cap="none" strike="noStrike">
                <a:solidFill>
                  <a:srgbClr val="000000"/>
                </a:solidFill>
                <a:latin typeface="Arial Rounded"/>
                <a:ea typeface="Arial Rounded"/>
                <a:cs typeface="Arial Rounded"/>
                <a:sym typeface="Arial Rounded"/>
              </a:rPr>
            </a:br>
            <a:br>
              <a:rPr b="1" i="0" lang="en-US" sz="6700" u="none" cap="none" strike="noStrike">
                <a:solidFill>
                  <a:srgbClr val="000000"/>
                </a:solidFill>
                <a:latin typeface="Arial Rounded"/>
                <a:ea typeface="Arial Rounded"/>
                <a:cs typeface="Arial Rounded"/>
                <a:sym typeface="Arial Rounded"/>
              </a:rPr>
            </a:br>
            <a:br>
              <a:rPr b="1" i="0" lang="en-US" sz="2000" u="none" cap="none" strike="noStrike">
                <a:solidFill>
                  <a:srgbClr val="000000"/>
                </a:solidFill>
                <a:latin typeface="Arial Rounded"/>
                <a:ea typeface="Arial Rounded"/>
                <a:cs typeface="Arial Rounded"/>
                <a:sym typeface="Arial Rounded"/>
              </a:rPr>
            </a:br>
            <a:br>
              <a:rPr b="1" i="0" lang="en-US" sz="2000" u="none" cap="none" strike="noStrike">
                <a:solidFill>
                  <a:srgbClr val="000000"/>
                </a:solidFill>
                <a:latin typeface="Arial Rounded"/>
                <a:ea typeface="Arial Rounded"/>
                <a:cs typeface="Arial Rounded"/>
                <a:sym typeface="Arial Rounded"/>
              </a:rPr>
            </a:br>
            <a:br>
              <a:rPr b="1" i="0" lang="en-US" sz="2000" u="none" cap="none" strike="noStrike">
                <a:solidFill>
                  <a:srgbClr val="000000"/>
                </a:solidFill>
                <a:latin typeface="Arial Rounded"/>
                <a:ea typeface="Arial Rounded"/>
                <a:cs typeface="Arial Rounded"/>
                <a:sym typeface="Arial Rounded"/>
              </a:rPr>
            </a:br>
            <a:br>
              <a:rPr b="1" i="0" lang="en-US" sz="2000" u="none" cap="none" strike="noStrike">
                <a:solidFill>
                  <a:srgbClr val="000000"/>
                </a:solidFill>
                <a:latin typeface="Arial Rounded"/>
                <a:ea typeface="Arial Rounded"/>
                <a:cs typeface="Arial Rounded"/>
                <a:sym typeface="Arial Rounded"/>
              </a:rPr>
            </a:br>
            <a:endParaRPr b="0" i="0" sz="2000" u="none" cap="none" strike="noStrike">
              <a:solidFill>
                <a:srgbClr val="000000"/>
              </a:solidFill>
              <a:latin typeface="Calibri"/>
              <a:ea typeface="Calibri"/>
              <a:cs typeface="Calibri"/>
              <a:sym typeface="Calibri"/>
            </a:endParaRPr>
          </a:p>
        </p:txBody>
      </p:sp>
      <p:pic>
        <p:nvPicPr>
          <p:cNvPr descr="Picture 2" id="137" name="Google Shape;137;p13"/>
          <p:cNvPicPr preferRelativeResize="0"/>
          <p:nvPr/>
        </p:nvPicPr>
        <p:blipFill rotWithShape="1">
          <a:blip r:embed="rId3">
            <a:alphaModFix/>
          </a:blip>
          <a:srcRect b="0" l="0" r="0" t="0"/>
          <a:stretch/>
        </p:blipFill>
        <p:spPr>
          <a:xfrm>
            <a:off x="66870" y="2"/>
            <a:ext cx="1219201" cy="1144589"/>
          </a:xfrm>
          <a:prstGeom prst="rect">
            <a:avLst/>
          </a:prstGeom>
          <a:noFill/>
          <a:ln>
            <a:noFill/>
          </a:ln>
        </p:spPr>
      </p:pic>
      <p:sp>
        <p:nvSpPr>
          <p:cNvPr id="138" name="Google Shape;138;p13"/>
          <p:cNvSpPr txBox="1"/>
          <p:nvPr/>
        </p:nvSpPr>
        <p:spPr>
          <a:xfrm>
            <a:off x="1331794" y="102214"/>
            <a:ext cx="10658980" cy="1107996"/>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GOKARAJU RANGARAJU INSTITUTE OF ENGINEERING AND TECHNOLOGY</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Department of Computer Science and Engineering</a:t>
            </a:r>
            <a:endParaRPr/>
          </a:p>
          <a:p>
            <a:pPr indent="0" lvl="0" marL="0" marR="0" rtl="0" algn="ctr">
              <a:lnSpc>
                <a:spcPct val="100000"/>
              </a:lnSpc>
              <a:spcBef>
                <a:spcPts val="0"/>
              </a:spcBef>
              <a:spcAft>
                <a:spcPts val="0"/>
              </a:spcAft>
              <a:buClr>
                <a:srgbClr val="000000"/>
              </a:buClr>
              <a:buSzPts val="2200"/>
              <a:buFont typeface="Arial Rounded"/>
              <a:buNone/>
            </a:pPr>
            <a:r>
              <a:rPr b="1" i="0" lang="en-US" sz="2200" u="none" cap="none" strike="noStrike">
                <a:solidFill>
                  <a:srgbClr val="000000"/>
                </a:solidFill>
                <a:latin typeface="Arial Rounded"/>
                <a:ea typeface="Arial Rounded"/>
                <a:cs typeface="Arial Rounded"/>
                <a:sym typeface="Arial Rounded"/>
              </a:rPr>
              <a:t>MINI Project Review</a:t>
            </a:r>
            <a:endParaRPr/>
          </a:p>
        </p:txBody>
      </p:sp>
      <p:sp>
        <p:nvSpPr>
          <p:cNvPr id="139" name="Google Shape;139;p13"/>
          <p:cNvSpPr txBox="1"/>
          <p:nvPr/>
        </p:nvSpPr>
        <p:spPr>
          <a:xfrm>
            <a:off x="883919" y="6414761"/>
            <a:ext cx="2651762" cy="248306"/>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888888"/>
              </a:buClr>
              <a:buSzPts val="1200"/>
              <a:buFont typeface="Calibri"/>
              <a:buNone/>
            </a:pPr>
            <a:r>
              <a:rPr b="0" i="0" lang="en-US" sz="1200" u="none" cap="none" strike="noStrike">
                <a:solidFill>
                  <a:srgbClr val="888888"/>
                </a:solidFill>
                <a:latin typeface="Calibri"/>
                <a:ea typeface="Calibri"/>
                <a:cs typeface="Calibri"/>
                <a:sym typeface="Calibri"/>
              </a:rPr>
              <a:t>23-05-2023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Boda Srija</dc:creator>
</cp:coreProperties>
</file>