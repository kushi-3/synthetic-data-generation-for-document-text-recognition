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34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xfrm>
            <a:off x="1143000" y="685800"/>
            <a:ext cx="4572000" cy="3429000"/>
          </a:xfrm>
          <a:prstGeom prst="rect">
            <a:avLst/>
          </a:prstGeom>
        </p:spPr>
        <p:txBody>
          <a:bodyPr/>
          <a:lstStyle/>
          <a:p>
            <a:endParaRPr/>
          </a:p>
        </p:txBody>
      </p:sp>
      <p:sp>
        <p:nvSpPr>
          <p:cNvPr id="92" name="Shape 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12"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189" algn="ctr">
              <a:buSzTx/>
              <a:buFontTx/>
              <a:buNone/>
              <a:defRPr sz="2400"/>
            </a:lvl2pPr>
            <a:lvl3pPr marL="0" indent="914377" algn="ctr">
              <a:buSzTx/>
              <a:buFontTx/>
              <a:buNone/>
              <a:defRPr sz="2400"/>
            </a:lvl3pPr>
            <a:lvl4pPr marL="0" indent="1371565" algn="ctr">
              <a:buSzTx/>
              <a:buFontTx/>
              <a:buNone/>
              <a:defRPr sz="2400"/>
            </a:lvl4pPr>
            <a:lvl5pPr marL="0" indent="1828754"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831850" y="1709740"/>
            <a:ext cx="10515601" cy="2852737"/>
          </a:xfrm>
          <a:prstGeom prst="rect">
            <a:avLst/>
          </a:prstGeom>
        </p:spPr>
        <p:txBody>
          <a:bodyPr anchor="b"/>
          <a:lstStyle>
            <a:lvl1pPr>
              <a:defRPr sz="6000"/>
            </a:lvl1pPr>
          </a:lstStyle>
          <a:p>
            <a:r>
              <a:t>Title Text</a:t>
            </a:r>
          </a:p>
        </p:txBody>
      </p:sp>
      <p:sp>
        <p:nvSpPr>
          <p:cNvPr id="30" name="Body Level One…"/>
          <p:cNvSpPr txBox="1">
            <a:spLocks noGrp="1"/>
          </p:cNvSpPr>
          <p:nvPr>
            <p:ph type="body" sz="quarter" idx="1"/>
          </p:nvPr>
        </p:nvSpPr>
        <p:spPr>
          <a:xfrm>
            <a:off x="831850" y="4589464"/>
            <a:ext cx="10515601" cy="1500188"/>
          </a:xfrm>
          <a:prstGeom prst="rect">
            <a:avLst/>
          </a:prstGeom>
        </p:spPr>
        <p:txBody>
          <a:bodyPr/>
          <a:lstStyle>
            <a:lvl1pPr marL="0" indent="0">
              <a:buSzTx/>
              <a:buFontTx/>
              <a:buNone/>
              <a:defRPr sz="2400">
                <a:solidFill>
                  <a:srgbClr val="888888"/>
                </a:solidFill>
              </a:defRPr>
            </a:lvl1pPr>
            <a:lvl2pPr marL="0" indent="457189">
              <a:buSzTx/>
              <a:buFontTx/>
              <a:buNone/>
              <a:defRPr sz="2400">
                <a:solidFill>
                  <a:srgbClr val="888888"/>
                </a:solidFill>
              </a:defRPr>
            </a:lvl2pPr>
            <a:lvl3pPr marL="0" indent="914377">
              <a:buSzTx/>
              <a:buFontTx/>
              <a:buNone/>
              <a:defRPr sz="2400">
                <a:solidFill>
                  <a:srgbClr val="888888"/>
                </a:solidFill>
              </a:defRPr>
            </a:lvl3pPr>
            <a:lvl4pPr marL="0" indent="1371565">
              <a:buSzTx/>
              <a:buFontTx/>
              <a:buNone/>
              <a:defRPr sz="2400">
                <a:solidFill>
                  <a:srgbClr val="888888"/>
                </a:solidFill>
              </a:defRPr>
            </a:lvl4pPr>
            <a:lvl5pPr marL="0" indent="1828754">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prstGeom prst="rect">
            <a:avLst/>
          </a:prstGeom>
        </p:spPr>
        <p:txBody>
          <a:bodyPr/>
          <a:lstStyle/>
          <a:p>
            <a:r>
              <a:t>Title Text</a:t>
            </a:r>
          </a:p>
        </p:txBody>
      </p:sp>
      <p:sp>
        <p:nvSpPr>
          <p:cNvPr id="39" name="Body Level One…"/>
          <p:cNvSpPr txBox="1">
            <a:spLocks noGrp="1"/>
          </p:cNvSpPr>
          <p:nvPr>
            <p:ph type="body" sz="half" idx="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839787" y="365127"/>
            <a:ext cx="10515601" cy="1325563"/>
          </a:xfrm>
          <a:prstGeom prst="rect">
            <a:avLst/>
          </a:prstGeom>
        </p:spPr>
        <p:txBody>
          <a:bodyPr/>
          <a:lstStyle/>
          <a:p>
            <a:r>
              <a:t>Title Text</a:t>
            </a:r>
          </a:p>
        </p:txBody>
      </p:sp>
      <p:sp>
        <p:nvSpPr>
          <p:cNvPr id="48" name="Body Level One…"/>
          <p:cNvSpPr txBox="1">
            <a:spLocks noGrp="1"/>
          </p:cNvSpPr>
          <p:nvPr>
            <p:ph type="body" sz="quarter" idx="1"/>
          </p:nvPr>
        </p:nvSpPr>
        <p:spPr>
          <a:xfrm>
            <a:off x="839788" y="1681163"/>
            <a:ext cx="5157789" cy="823913"/>
          </a:xfrm>
          <a:prstGeom prst="rect">
            <a:avLst/>
          </a:prstGeom>
        </p:spPr>
        <p:txBody>
          <a:bodyPr anchor="b"/>
          <a:lstStyle>
            <a:lvl1pPr marL="0" indent="0">
              <a:buSzTx/>
              <a:buFontTx/>
              <a:buNone/>
              <a:defRPr sz="2400" b="1"/>
            </a:lvl1pPr>
            <a:lvl2pPr marL="0" indent="457189">
              <a:buSzTx/>
              <a:buFontTx/>
              <a:buNone/>
              <a:defRPr sz="2400" b="1"/>
            </a:lvl2pPr>
            <a:lvl3pPr marL="0" indent="914377">
              <a:buSzTx/>
              <a:buFontTx/>
              <a:buNone/>
              <a:defRPr sz="2400" b="1"/>
            </a:lvl3pPr>
            <a:lvl4pPr marL="0" indent="1371565">
              <a:buSzTx/>
              <a:buFontTx/>
              <a:buNone/>
              <a:defRPr sz="2400" b="1"/>
            </a:lvl4pPr>
            <a:lvl5pPr marL="0" indent="1828754">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6172201" y="1681163"/>
            <a:ext cx="5183189" cy="823913"/>
          </a:xfrm>
          <a:prstGeom prst="rect">
            <a:avLst/>
          </a:prstGeom>
        </p:spPr>
        <p:txBody>
          <a:bodyPr anchor="b"/>
          <a:lstStyle/>
          <a:p>
            <a:pPr marL="0" indent="0">
              <a:buSzTx/>
              <a:buFontTx/>
              <a:buNone/>
              <a:defRPr sz="2400" b="1"/>
            </a:pPr>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prstGeom prst="rect">
            <a:avLst/>
          </a:prstGeom>
        </p:spPr>
        <p:txBody>
          <a:bodyPr/>
          <a:lstStyle/>
          <a:p>
            <a:r>
              <a:t>Title Text</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73" name="Body Level One…"/>
          <p:cNvSpPr txBox="1">
            <a:spLocks noGrp="1"/>
          </p:cNvSpPr>
          <p:nvPr>
            <p:ph type="body" sz="half" idx="1"/>
          </p:nvPr>
        </p:nvSpPr>
        <p:spPr>
          <a:xfrm>
            <a:off x="5183187" y="987427"/>
            <a:ext cx="6172201" cy="4873626"/>
          </a:xfrm>
          <a:prstGeom prst="rect">
            <a:avLst/>
          </a:prstGeom>
        </p:spPr>
        <p:txBody>
          <a:bodyPr/>
          <a:lstStyle>
            <a:lvl1pPr>
              <a:defRPr sz="3200"/>
            </a:lvl1pPr>
            <a:lvl2pPr marL="718439" indent="-261250">
              <a:defRPr sz="3200"/>
            </a:lvl2pPr>
            <a:lvl3pPr marL="1219168" indent="-304791">
              <a:defRPr sz="3200"/>
            </a:lvl3pPr>
            <a:lvl4pPr marL="1737316" indent="-365750">
              <a:defRPr sz="3200"/>
            </a:lvl4pPr>
            <a:lvl5pPr marL="2194505" indent="-365750">
              <a:defRPr sz="3200"/>
            </a:lvl5p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83" name="Picture Placeholder 2"/>
          <p:cNvSpPr>
            <a:spLocks noGrp="1"/>
          </p:cNvSpPr>
          <p:nvPr>
            <p:ph type="pic" sz="half" idx="21"/>
          </p:nvPr>
        </p:nvSpPr>
        <p:spPr>
          <a:xfrm>
            <a:off x="5183187" y="987427"/>
            <a:ext cx="6172201" cy="4873626"/>
          </a:xfrm>
          <a:prstGeom prst="rect">
            <a:avLst/>
          </a:prstGeom>
        </p:spPr>
        <p:txBody>
          <a:bodyPr lIns="91439" rIns="91439">
            <a:noAutofit/>
          </a:bodyPr>
          <a:lstStyle/>
          <a:p>
            <a:endParaRPr/>
          </a:p>
        </p:txBody>
      </p:sp>
      <p:sp>
        <p:nvSpPr>
          <p:cNvPr id="84"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189">
              <a:buSzTx/>
              <a:buFontTx/>
              <a:buNone/>
              <a:defRPr sz="1600"/>
            </a:lvl2pPr>
            <a:lvl3pPr marL="0" indent="914377">
              <a:buSzTx/>
              <a:buFontTx/>
              <a:buNone/>
              <a:defRPr sz="1600"/>
            </a:lvl3pPr>
            <a:lvl4pPr marL="0" indent="1371565">
              <a:buSzTx/>
              <a:buFontTx/>
              <a:buNone/>
              <a:defRPr sz="1600"/>
            </a:lvl4pPr>
            <a:lvl5pPr marL="0" indent="1828754">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0" y="365127"/>
            <a:ext cx="10515600" cy="1325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0" y="1825625"/>
            <a:ext cx="10515600" cy="4351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095176" y="6414761"/>
            <a:ext cx="258624" cy="248306"/>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l" defTabSz="914377"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377"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377"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377"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377"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377"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377"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377"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377"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593" marR="0" indent="-228593" algn="l" defTabSz="914377"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1pPr>
      <a:lvl2pPr marL="723881" marR="0" indent="-266692" algn="l" defTabSz="914377"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2pPr>
      <a:lvl3pPr marL="1234408" marR="0" indent="-320031" algn="l" defTabSz="914377"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3pPr>
      <a:lvl4pPr marL="1727156" marR="0" indent="-355590" algn="l" defTabSz="914377"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4pPr>
      <a:lvl5pPr marL="2184345" marR="0" indent="-355590" algn="l" defTabSz="914377"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5pPr>
      <a:lvl6pPr marL="2641533" marR="0" indent="-355590" algn="l" defTabSz="914377"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6pPr>
      <a:lvl7pPr marL="3098722" marR="0" indent="-355590" algn="l" defTabSz="914377"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7pPr>
      <a:lvl8pPr marL="3555910" marR="0" indent="-355590" algn="l" defTabSz="914377"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8pPr>
      <a:lvl9pPr marL="4013099" marR="0" indent="-355590" algn="l" defTabSz="914377"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itle 1"/>
          <p:cNvSpPr txBox="1">
            <a:spLocks noGrp="1"/>
          </p:cNvSpPr>
          <p:nvPr>
            <p:ph type="ctrTitle"/>
          </p:nvPr>
        </p:nvSpPr>
        <p:spPr>
          <a:xfrm>
            <a:off x="194767" y="1793944"/>
            <a:ext cx="11802465" cy="1249206"/>
          </a:xfrm>
          <a:prstGeom prst="rect">
            <a:avLst/>
          </a:prstGeom>
        </p:spPr>
        <p:txBody>
          <a:bodyPr/>
          <a:lstStyle/>
          <a:p>
            <a:pPr defTabSz="384038">
              <a:defRPr sz="3864"/>
            </a:pPr>
            <a:r>
              <a:t>Synthetic Data Generation for Document Text Recognition</a:t>
            </a:r>
          </a:p>
          <a:p>
            <a:pPr defTabSz="384038">
              <a:defRPr sz="2562"/>
            </a:pPr>
            <a:r>
              <a:t>Dr. Ashlin Deepa R N</a:t>
            </a:r>
          </a:p>
        </p:txBody>
      </p:sp>
      <p:sp>
        <p:nvSpPr>
          <p:cNvPr id="95" name="Subtitle 2"/>
          <p:cNvSpPr txBox="1">
            <a:spLocks noGrp="1"/>
          </p:cNvSpPr>
          <p:nvPr>
            <p:ph type="subTitle" sz="quarter" idx="1"/>
          </p:nvPr>
        </p:nvSpPr>
        <p:spPr>
          <a:xfrm>
            <a:off x="5253137" y="3692502"/>
            <a:ext cx="6401384" cy="2517848"/>
          </a:xfrm>
          <a:prstGeom prst="rect">
            <a:avLst/>
          </a:prstGeom>
        </p:spPr>
        <p:txBody>
          <a:bodyPr/>
          <a:lstStyle/>
          <a:p>
            <a:pPr lvl="1" indent="429757" defTabSz="859514">
              <a:spcBef>
                <a:spcPts val="400"/>
              </a:spcBef>
              <a:defRPr sz="1879"/>
            </a:pPr>
            <a:endParaRPr dirty="0"/>
          </a:p>
          <a:p>
            <a:pPr lvl="1" indent="429757" algn="l" defTabSz="859514">
              <a:spcBef>
                <a:spcPts val="400"/>
              </a:spcBef>
              <a:defRPr sz="1879"/>
            </a:pPr>
            <a:r>
              <a:rPr dirty="0"/>
              <a:t>	</a:t>
            </a:r>
            <a:r>
              <a:rPr sz="2632" i="1" dirty="0">
                <a:latin typeface="Bahnschrift Light"/>
                <a:ea typeface="Bahnschrift Light"/>
                <a:cs typeface="Bahnschrift Light"/>
                <a:sym typeface="Bahnschrift Light"/>
              </a:rPr>
              <a:t>B Jhansi Lakshmi 20241A0566</a:t>
            </a:r>
          </a:p>
          <a:p>
            <a:pPr lvl="1" indent="429757" algn="l" defTabSz="859514">
              <a:spcBef>
                <a:spcPts val="400"/>
              </a:spcBef>
              <a:defRPr sz="1879"/>
            </a:pPr>
            <a:r>
              <a:rPr sz="2632" i="1" dirty="0">
                <a:latin typeface="Bahnschrift Light"/>
                <a:ea typeface="Bahnschrift Light"/>
                <a:cs typeface="Bahnschrift Light"/>
                <a:sym typeface="Bahnschrift Light"/>
              </a:rPr>
              <a:t>    B Srija 20241A0564</a:t>
            </a:r>
          </a:p>
          <a:p>
            <a:pPr lvl="1" indent="429757" algn="l" defTabSz="859514">
              <a:spcBef>
                <a:spcPts val="400"/>
              </a:spcBef>
              <a:defRPr sz="1879"/>
            </a:pPr>
            <a:r>
              <a:rPr sz="2632" i="1" dirty="0">
                <a:latin typeface="Bahnschrift Light"/>
                <a:ea typeface="Bahnschrift Light"/>
                <a:cs typeface="Bahnschrift Light"/>
                <a:sym typeface="Bahnschrift Light"/>
              </a:rPr>
              <a:t>    Maria Jab</a:t>
            </a:r>
            <a:r>
              <a:rPr lang="en-US" sz="2632" i="1" dirty="0">
                <a:latin typeface="Bahnschrift Light"/>
                <a:ea typeface="Bahnschrift Light"/>
                <a:cs typeface="Bahnschrift Light"/>
                <a:sym typeface="Bahnschrift Light"/>
              </a:rPr>
              <a:t>e</a:t>
            </a:r>
            <a:r>
              <a:rPr sz="2632" i="1" dirty="0">
                <a:latin typeface="Bahnschrift Light"/>
                <a:ea typeface="Bahnschrift Light"/>
                <a:cs typeface="Bahnschrift Light"/>
                <a:sym typeface="Bahnschrift Light"/>
              </a:rPr>
              <a:t>en 20241A0593</a:t>
            </a:r>
          </a:p>
          <a:p>
            <a:pPr lvl="1" indent="429757" algn="l" defTabSz="859514">
              <a:spcBef>
                <a:spcPts val="400"/>
              </a:spcBef>
              <a:defRPr sz="1879"/>
            </a:pPr>
            <a:r>
              <a:rPr sz="2632" i="1" dirty="0">
                <a:latin typeface="Bahnschrift Light"/>
                <a:ea typeface="Bahnschrift Light"/>
                <a:cs typeface="Bahnschrift Light"/>
                <a:sym typeface="Bahnschrift Light"/>
              </a:rPr>
              <a:t>    K Kushi Reddy 20241A0583</a:t>
            </a:r>
          </a:p>
          <a:p>
            <a:pPr lvl="1" indent="429757" algn="l" defTabSz="859514">
              <a:spcBef>
                <a:spcPts val="400"/>
              </a:spcBef>
              <a:defRPr sz="1879"/>
            </a:pPr>
            <a:r>
              <a:rPr sz="2632" i="1" dirty="0">
                <a:latin typeface="Bahnschrift Light"/>
                <a:ea typeface="Bahnschrift Light"/>
                <a:cs typeface="Bahnschrift Light"/>
                <a:sym typeface="Bahnschrift Light"/>
              </a:rPr>
              <a:t>   </a:t>
            </a:r>
          </a:p>
        </p:txBody>
      </p:sp>
      <p:pic>
        <p:nvPicPr>
          <p:cNvPr id="96" name="Picture 2" descr="Picture 2"/>
          <p:cNvPicPr>
            <a:picLocks noChangeAspect="1"/>
          </p:cNvPicPr>
          <p:nvPr/>
        </p:nvPicPr>
        <p:blipFill>
          <a:blip r:embed="rId2"/>
          <a:stretch>
            <a:fillRect/>
          </a:stretch>
        </p:blipFill>
        <p:spPr>
          <a:xfrm>
            <a:off x="66870" y="2"/>
            <a:ext cx="1219201" cy="1144589"/>
          </a:xfrm>
          <a:prstGeom prst="rect">
            <a:avLst/>
          </a:prstGeom>
          <a:ln w="12700">
            <a:miter lim="400000"/>
          </a:ln>
        </p:spPr>
      </p:pic>
      <p:sp>
        <p:nvSpPr>
          <p:cNvPr id="97" name="TextBox 5"/>
          <p:cNvSpPr txBox="1"/>
          <p:nvPr/>
        </p:nvSpPr>
        <p:spPr>
          <a:xfrm>
            <a:off x="1331794" y="102214"/>
            <a:ext cx="10658980" cy="1082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2200">
                <a:latin typeface="Arial Rounded MT Bold"/>
                <a:ea typeface="Arial Rounded MT Bold"/>
                <a:cs typeface="Arial Rounded MT Bold"/>
                <a:sym typeface="Arial Rounded MT Bold"/>
              </a:defRPr>
            </a:pPr>
            <a:r>
              <a:t>GOKARAJU RANGARAJU INSTITUTE OF ENGINEERING AND TECHNOLOGY</a:t>
            </a:r>
          </a:p>
          <a:p>
            <a:pPr algn="ctr">
              <a:defRPr sz="2200">
                <a:latin typeface="Arial Rounded MT Bold"/>
                <a:ea typeface="Arial Rounded MT Bold"/>
                <a:cs typeface="Arial Rounded MT Bold"/>
                <a:sym typeface="Arial Rounded MT Bold"/>
              </a:defRPr>
            </a:pPr>
            <a:r>
              <a:t>Department of Computer Science and Engineering</a:t>
            </a:r>
          </a:p>
          <a:p>
            <a:pPr algn="ctr">
              <a:defRPr sz="2200">
                <a:latin typeface="Arial Rounded MT Bold"/>
                <a:ea typeface="Arial Rounded MT Bold"/>
                <a:cs typeface="Arial Rounded MT Bold"/>
                <a:sym typeface="Arial Rounded MT Bold"/>
              </a:defRPr>
            </a:pPr>
            <a:r>
              <a:t>MINI Project Review-3</a:t>
            </a:r>
          </a:p>
        </p:txBody>
      </p:sp>
      <p:sp>
        <p:nvSpPr>
          <p:cNvPr id="98" name="Date Placeholder 6"/>
          <p:cNvSpPr txBox="1"/>
          <p:nvPr/>
        </p:nvSpPr>
        <p:spPr>
          <a:xfrm>
            <a:off x="883919" y="6414761"/>
            <a:ext cx="2651762" cy="2483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t>23-05-2023</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itle 1"/>
          <p:cNvSpPr txBox="1">
            <a:spLocks noGrp="1"/>
          </p:cNvSpPr>
          <p:nvPr>
            <p:ph type="ctrTitle"/>
          </p:nvPr>
        </p:nvSpPr>
        <p:spPr>
          <a:xfrm>
            <a:off x="155506" y="1311151"/>
            <a:ext cx="11880988" cy="4976715"/>
          </a:xfrm>
          <a:prstGeom prst="rect">
            <a:avLst/>
          </a:prstGeom>
        </p:spPr>
        <p:txBody>
          <a:bodyPr anchor="t"/>
          <a:lstStyle/>
          <a:p>
            <a:pPr algn="just" defTabSz="365750">
              <a:defRPr sz="3160" b="1">
                <a:latin typeface="Avenir Next LT Pro Light"/>
                <a:ea typeface="Avenir Next LT Pro Light"/>
                <a:cs typeface="Avenir Next LT Pro Light"/>
                <a:sym typeface="Avenir Next LT Pro Light"/>
              </a:defRPr>
            </a:pPr>
            <a:r>
              <a:t>ABSTRACT :</a:t>
            </a:r>
          </a:p>
          <a:p>
            <a:pPr algn="just" defTabSz="365750">
              <a:defRPr sz="1400" b="1">
                <a:latin typeface="Avenir Next LT Pro Light"/>
                <a:ea typeface="Avenir Next LT Pro Light"/>
                <a:cs typeface="Avenir Next LT Pro Light"/>
                <a:sym typeface="Avenir Next LT Pro Light"/>
              </a:defRPr>
            </a:pPr>
            <a:endParaRPr/>
          </a:p>
          <a:p>
            <a:pPr algn="just" defTabSz="365750">
              <a:defRPr sz="2160">
                <a:latin typeface="Avenir Next LT Pro Light"/>
                <a:ea typeface="Avenir Next LT Pro Light"/>
                <a:cs typeface="Avenir Next LT Pro Light"/>
                <a:sym typeface="Avenir Next LT Pro Light"/>
              </a:defRPr>
            </a:pPr>
            <a:endParaRPr/>
          </a:p>
          <a:p>
            <a:pPr algn="just" defTabSz="365750">
              <a:defRPr sz="2160">
                <a:latin typeface="Avenir Next LT Pro Light"/>
                <a:ea typeface="Avenir Next LT Pro Light"/>
                <a:cs typeface="Avenir Next LT Pro Light"/>
                <a:sym typeface="Avenir Next LT Pro Light"/>
              </a:defRPr>
            </a:pPr>
            <a:r>
              <a:t>Document text recognition is a technology that recognises text in scanned documents.It is used to convert scanned handwritten text into an accessible electronic version of text.In document text recognition of Indian languages, due to vast size of dataset, explicit preprocessing takes lot of time. To reduce the cost and time of preprocessing, synthetic data generation is introduced which does not require explicit preprocessing.Synthetic data is artificial data that mimics real-world observations and is used to train machine learning models when actual data is difficult or expensive to get. In this project we employ a data preprocessing technique that involves generating synthetic data files from the existing dataset of Indian languages.These files serve as a structured format for managing and organizing the data specifically for document text recognition tasks. This synthetic data is used for training and testing the language models. We use the fastText model as a pre-trained language model, which creates word embeddings and acts as a supervisor for predicting using the synthetic data.</a:t>
            </a:r>
            <a:endParaRPr sz="1640"/>
          </a:p>
          <a:p>
            <a:pPr algn="just" defTabSz="365750">
              <a:defRPr sz="2120" b="1">
                <a:latin typeface="Avenir Next LT Pro Light"/>
                <a:ea typeface="Avenir Next LT Pro Light"/>
                <a:cs typeface="Avenir Next LT Pro Light"/>
                <a:sym typeface="Avenir Next LT Pro Light"/>
              </a:defRPr>
            </a:pPr>
            <a:br/>
            <a:endParaRPr/>
          </a:p>
        </p:txBody>
      </p:sp>
      <p:pic>
        <p:nvPicPr>
          <p:cNvPr id="101" name="Picture 2" descr="Picture 2"/>
          <p:cNvPicPr>
            <a:picLocks noChangeAspect="1"/>
          </p:cNvPicPr>
          <p:nvPr/>
        </p:nvPicPr>
        <p:blipFill>
          <a:blip r:embed="rId2"/>
          <a:stretch>
            <a:fillRect/>
          </a:stretch>
        </p:blipFill>
        <p:spPr>
          <a:xfrm>
            <a:off x="66870" y="2"/>
            <a:ext cx="1219201" cy="1144589"/>
          </a:xfrm>
          <a:prstGeom prst="rect">
            <a:avLst/>
          </a:prstGeom>
          <a:ln w="12700">
            <a:miter lim="400000"/>
          </a:ln>
        </p:spPr>
      </p:pic>
      <p:sp>
        <p:nvSpPr>
          <p:cNvPr id="102" name="TextBox 5"/>
          <p:cNvSpPr txBox="1"/>
          <p:nvPr/>
        </p:nvSpPr>
        <p:spPr>
          <a:xfrm>
            <a:off x="1331794" y="102214"/>
            <a:ext cx="10658980" cy="1082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2200">
                <a:latin typeface="Arial Rounded MT Bold"/>
                <a:ea typeface="Arial Rounded MT Bold"/>
                <a:cs typeface="Arial Rounded MT Bold"/>
                <a:sym typeface="Arial Rounded MT Bold"/>
              </a:defRPr>
            </a:pPr>
            <a:r>
              <a:t>GOKARAJU RANGARAJU INSTITUTE OF ENGINEERING AND TECHNOLOGY</a:t>
            </a:r>
          </a:p>
          <a:p>
            <a:pPr algn="ctr">
              <a:defRPr sz="2200">
                <a:latin typeface="Arial Rounded MT Bold"/>
                <a:ea typeface="Arial Rounded MT Bold"/>
                <a:cs typeface="Arial Rounded MT Bold"/>
                <a:sym typeface="Arial Rounded MT Bold"/>
              </a:defRPr>
            </a:pPr>
            <a:r>
              <a:t>Department of Computer Science and Engineering</a:t>
            </a:r>
          </a:p>
          <a:p>
            <a:pPr algn="ctr">
              <a:defRPr sz="2200">
                <a:latin typeface="Arial Rounded MT Bold"/>
                <a:ea typeface="Arial Rounded MT Bold"/>
                <a:cs typeface="Arial Rounded MT Bold"/>
                <a:sym typeface="Arial Rounded MT Bold"/>
              </a:defRPr>
            </a:pPr>
            <a:r>
              <a:t>MINI Project Review-3</a:t>
            </a:r>
          </a:p>
        </p:txBody>
      </p:sp>
      <p:sp>
        <p:nvSpPr>
          <p:cNvPr id="103" name="Date Placeholder 6"/>
          <p:cNvSpPr txBox="1"/>
          <p:nvPr/>
        </p:nvSpPr>
        <p:spPr>
          <a:xfrm>
            <a:off x="883919" y="6414761"/>
            <a:ext cx="2651762" cy="2483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t>23-05-2023</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itle 1"/>
          <p:cNvSpPr txBox="1">
            <a:spLocks noGrp="1"/>
          </p:cNvSpPr>
          <p:nvPr>
            <p:ph type="title"/>
          </p:nvPr>
        </p:nvSpPr>
        <p:spPr>
          <a:xfrm>
            <a:off x="381575" y="365127"/>
            <a:ext cx="10972225" cy="1325563"/>
          </a:xfrm>
          <a:prstGeom prst="rect">
            <a:avLst/>
          </a:prstGeom>
        </p:spPr>
        <p:txBody>
          <a:bodyPr/>
          <a:lstStyle/>
          <a:p>
            <a:r>
              <a:t>Algorithm Used in the project</a:t>
            </a:r>
          </a:p>
        </p:txBody>
      </p:sp>
      <p:sp>
        <p:nvSpPr>
          <p:cNvPr id="106" name="Content Placeholder 2"/>
          <p:cNvSpPr txBox="1">
            <a:spLocks noGrp="1"/>
          </p:cNvSpPr>
          <p:nvPr>
            <p:ph type="body" idx="1"/>
          </p:nvPr>
        </p:nvSpPr>
        <p:spPr>
          <a:xfrm>
            <a:off x="336812" y="1740811"/>
            <a:ext cx="10515601" cy="4623829"/>
          </a:xfrm>
          <a:prstGeom prst="rect">
            <a:avLst/>
          </a:prstGeom>
        </p:spPr>
        <p:txBody>
          <a:bodyPr/>
          <a:lstStyle/>
          <a:p>
            <a:pPr marL="0" indent="0" algn="just" defTabSz="242315">
              <a:lnSpc>
                <a:spcPct val="100000"/>
              </a:lnSpc>
              <a:spcBef>
                <a:spcPts val="0"/>
              </a:spcBef>
              <a:buSzTx/>
              <a:buFontTx/>
              <a:buNone/>
              <a:defRPr sz="2190" b="1" i="1" u="sng">
                <a:uFill>
                  <a:solidFill>
                    <a:srgbClr val="000000"/>
                  </a:solidFill>
                </a:uFill>
                <a:latin typeface="Times Roman"/>
                <a:ea typeface="Times Roman"/>
                <a:cs typeface="Times Roman"/>
                <a:sym typeface="Times Roman"/>
              </a:defRPr>
            </a:pPr>
            <a:r>
              <a:t>Rectification Module:</a:t>
            </a:r>
          </a:p>
          <a:p>
            <a:pPr marL="121154" indent="-121154" algn="just" defTabSz="484619">
              <a:spcBef>
                <a:spcPts val="500"/>
              </a:spcBef>
              <a:defRPr sz="2190"/>
            </a:pPr>
            <a:r>
              <a:t>The Rectification module rectifies the given input text image. </a:t>
            </a:r>
          </a:p>
          <a:p>
            <a:pPr marL="121154" indent="-121154" algn="just" defTabSz="484619">
              <a:spcBef>
                <a:spcPts val="500"/>
              </a:spcBef>
              <a:defRPr sz="2190"/>
            </a:pPr>
            <a:r>
              <a:t>Using Spatial Transformation Network(STN), rectification is done in order to simplify text recognition.</a:t>
            </a:r>
          </a:p>
          <a:p>
            <a:pPr marL="0" indent="0" algn="just" defTabSz="242315">
              <a:lnSpc>
                <a:spcPct val="100000"/>
              </a:lnSpc>
              <a:spcBef>
                <a:spcPts val="0"/>
              </a:spcBef>
              <a:buSzTx/>
              <a:buFontTx/>
              <a:buNone/>
              <a:defRPr sz="2190" b="1" i="1" u="sng">
                <a:uFill>
                  <a:solidFill>
                    <a:srgbClr val="000000"/>
                  </a:solidFill>
                </a:uFill>
                <a:latin typeface="Times Roman"/>
                <a:ea typeface="Times Roman"/>
                <a:cs typeface="Times Roman"/>
                <a:sym typeface="Times Roman"/>
              </a:defRPr>
            </a:pPr>
            <a:r>
              <a:t>Encoder Module:</a:t>
            </a:r>
          </a:p>
          <a:p>
            <a:pPr marL="121154" indent="-121154" algn="just" defTabSz="484619">
              <a:spcBef>
                <a:spcPts val="500"/>
              </a:spcBef>
              <a:defRPr sz="2190"/>
            </a:pPr>
            <a:r>
              <a:t>Image from rectified module is forwarded to the encoder module(ResNet based CNN followed by 2-layer Bidirectional LSTM (BiLSTM)).</a:t>
            </a:r>
          </a:p>
          <a:p>
            <a:pPr marL="121154" indent="-121154" algn="just" defTabSz="484619">
              <a:spcBef>
                <a:spcPts val="500"/>
              </a:spcBef>
              <a:defRPr sz="2190"/>
            </a:pPr>
            <a:r>
              <a:t>Encoder module gives a feature sequence as the output.</a:t>
            </a:r>
          </a:p>
          <a:p>
            <a:pPr marL="0" indent="0" algn="just" defTabSz="242315">
              <a:lnSpc>
                <a:spcPts val="3200"/>
              </a:lnSpc>
              <a:spcBef>
                <a:spcPts val="0"/>
              </a:spcBef>
              <a:buSzTx/>
              <a:buFontTx/>
              <a:buNone/>
              <a:defRPr sz="2190" b="1" i="1" u="sng">
                <a:uFill>
                  <a:solidFill>
                    <a:srgbClr val="000000"/>
                  </a:solidFill>
                </a:uFill>
                <a:latin typeface="Times Roman"/>
                <a:ea typeface="Times Roman"/>
                <a:cs typeface="Times Roman"/>
                <a:sym typeface="Times Roman"/>
              </a:defRPr>
            </a:pPr>
            <a:r>
              <a:t>Semantic Module:</a:t>
            </a:r>
          </a:p>
          <a:p>
            <a:pPr marL="121154" indent="-121154" algn="just" defTabSz="484619">
              <a:spcBef>
                <a:spcPts val="500"/>
              </a:spcBef>
              <a:defRPr sz="2190"/>
            </a:pPr>
            <a:r>
              <a:t>The semantic module uses feature sequence  for accurately predicting characters.</a:t>
            </a:r>
          </a:p>
          <a:p>
            <a:pPr marL="121154" indent="-121154" algn="just" defTabSz="484619">
              <a:spcBef>
                <a:spcPts val="500"/>
              </a:spcBef>
              <a:defRPr sz="2190"/>
            </a:pPr>
            <a:r>
              <a:t>Word embedding from pre-trained language model (FastText) acts as a supervisor to predict semantic information.</a:t>
            </a:r>
          </a:p>
          <a:p>
            <a:pPr marL="121154" indent="-121154" algn="just" defTabSz="484619">
              <a:spcBef>
                <a:spcPts val="500"/>
              </a:spcBef>
              <a:defRPr sz="2190"/>
            </a:pPr>
            <a:r>
              <a:t>Embedding vectors of all subwords combined to represent corresponding word.</a:t>
            </a:r>
          </a:p>
        </p:txBody>
      </p:sp>
      <p:sp>
        <p:nvSpPr>
          <p:cNvPr id="107" name="Date Placeholder 3"/>
          <p:cNvSpPr txBox="1"/>
          <p:nvPr/>
        </p:nvSpPr>
        <p:spPr>
          <a:xfrm>
            <a:off x="883919" y="6414761"/>
            <a:ext cx="2651762" cy="2483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t>23-05-2023</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Image Gallery"/>
          <p:cNvGrpSpPr/>
          <p:nvPr/>
        </p:nvGrpSpPr>
        <p:grpSpPr>
          <a:xfrm>
            <a:off x="1069402" y="75901"/>
            <a:ext cx="9869842" cy="6604001"/>
            <a:chOff x="0" y="0"/>
            <a:chExt cx="9869839" cy="6604000"/>
          </a:xfrm>
        </p:grpSpPr>
        <p:pic>
          <p:nvPicPr>
            <p:cNvPr id="109" name="Screenshot 2023-05-29 at 10.41.44 PM.png" descr="Screenshot 2023-05-29 at 10.41.44 PM.png"/>
            <p:cNvPicPr>
              <a:picLocks noChangeAspect="1"/>
            </p:cNvPicPr>
            <p:nvPr/>
          </p:nvPicPr>
          <p:blipFill>
            <a:blip r:embed="rId2"/>
            <a:srcRect/>
            <a:stretch>
              <a:fillRect/>
            </a:stretch>
          </p:blipFill>
          <p:spPr>
            <a:xfrm>
              <a:off x="2636346" y="0"/>
              <a:ext cx="4875188" cy="6133753"/>
            </a:xfrm>
            <a:prstGeom prst="rect">
              <a:avLst/>
            </a:prstGeom>
            <a:ln w="12700" cap="flat">
              <a:noFill/>
              <a:miter lim="400000"/>
            </a:ln>
            <a:effectLst/>
          </p:spPr>
        </p:pic>
        <p:sp>
          <p:nvSpPr>
            <p:cNvPr id="110" name="Fig 1.Architecture of the project"/>
            <p:cNvSpPr/>
            <p:nvPr/>
          </p:nvSpPr>
          <p:spPr>
            <a:xfrm>
              <a:off x="0" y="6209952"/>
              <a:ext cx="9869839" cy="39404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6200" tIns="76200" rIns="76200" bIns="76200" numCol="1" anchor="t">
              <a:noAutofit/>
            </a:bodyPr>
            <a:lstStyle>
              <a:lvl1pPr algn="just"/>
            </a:lstStyle>
            <a:p>
              <a:r>
                <a:rPr dirty="0"/>
                <a:t>              </a:t>
              </a:r>
              <a:r>
                <a:rPr lang="en-US" dirty="0"/>
                <a:t>                   </a:t>
              </a:r>
              <a:r>
                <a:rPr dirty="0"/>
                <a:t>Fig 1.Architecture of the pro</a:t>
              </a:r>
              <a:r>
                <a:rPr lang="en-US" dirty="0"/>
                <a:t>posed Synthetic  database generator</a:t>
              </a:r>
            </a:p>
            <a:p>
              <a:endParaRPr dirty="0"/>
            </a:p>
          </p:txBody>
        </p:sp>
      </p:gr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Title 1"/>
          <p:cNvSpPr txBox="1">
            <a:spLocks noGrp="1"/>
          </p:cNvSpPr>
          <p:nvPr>
            <p:ph type="ctrTitle"/>
          </p:nvPr>
        </p:nvSpPr>
        <p:spPr>
          <a:xfrm>
            <a:off x="111188" y="1595535"/>
            <a:ext cx="11969624" cy="4976715"/>
          </a:xfrm>
          <a:prstGeom prst="rect">
            <a:avLst/>
          </a:prstGeom>
        </p:spPr>
        <p:txBody>
          <a:bodyPr anchor="t"/>
          <a:lstStyle/>
          <a:p>
            <a:pPr algn="just" defTabSz="621776">
              <a:defRPr sz="2652">
                <a:solidFill>
                  <a:srgbClr val="FF5050"/>
                </a:solidFill>
              </a:defRPr>
            </a:pPr>
            <a:r>
              <a:rPr dirty="0">
                <a:solidFill>
                  <a:srgbClr val="000000"/>
                </a:solidFill>
                <a:latin typeface="Arial Black"/>
                <a:ea typeface="Arial Black"/>
                <a:cs typeface="Arial Black"/>
                <a:sym typeface="Arial Black"/>
              </a:rPr>
              <a:t>Project Implementation &amp; Execution (100%):</a:t>
            </a:r>
            <a:endParaRPr sz="1632" dirty="0">
              <a:solidFill>
                <a:srgbClr val="000000"/>
              </a:solidFill>
              <a:latin typeface="Arial Black"/>
              <a:ea typeface="Arial Black"/>
              <a:cs typeface="Arial Black"/>
              <a:sym typeface="Arial Black"/>
            </a:endParaRPr>
          </a:p>
          <a:p>
            <a:pPr algn="just" defTabSz="621776">
              <a:defRPr sz="3604">
                <a:solidFill>
                  <a:srgbClr val="FF5050"/>
                </a:solidFill>
              </a:defRPr>
            </a:pPr>
            <a:endParaRPr sz="1632" dirty="0">
              <a:solidFill>
                <a:srgbClr val="000000"/>
              </a:solidFill>
              <a:latin typeface="Arial Black"/>
              <a:ea typeface="Arial Black"/>
              <a:cs typeface="Arial Black"/>
              <a:sym typeface="Arial Black"/>
            </a:endParaRPr>
          </a:p>
          <a:p>
            <a:pPr algn="just" defTabSz="621776">
              <a:defRPr sz="3604">
                <a:solidFill>
                  <a:srgbClr val="FF5050"/>
                </a:solidFill>
              </a:defRPr>
            </a:pPr>
            <a:endParaRPr sz="1632" dirty="0">
              <a:solidFill>
                <a:srgbClr val="000000"/>
              </a:solidFill>
              <a:latin typeface="Arial Black"/>
              <a:ea typeface="Arial Black"/>
              <a:cs typeface="Arial Black"/>
              <a:sym typeface="Arial Black"/>
            </a:endParaRPr>
          </a:p>
          <a:p>
            <a:pPr marL="342900" indent="-342900" algn="just" defTabSz="621776">
              <a:spcBef>
                <a:spcPts val="600"/>
              </a:spcBef>
              <a:buSzPct val="100000"/>
              <a:buFont typeface="Arial" panose="020B0604020202020204" pitchFamily="34" charset="0"/>
              <a:buChar char="•"/>
              <a:defRPr sz="2176">
                <a:latin typeface="+mn-lt"/>
                <a:ea typeface="+mn-ea"/>
                <a:cs typeface="+mn-cs"/>
                <a:sym typeface="Calibri"/>
              </a:defRPr>
            </a:pPr>
            <a:r>
              <a:rPr dirty="0"/>
              <a:t>In this project, we use word embedding based on skip-gram from </a:t>
            </a:r>
            <a:r>
              <a:rPr dirty="0" err="1"/>
              <a:t>FastText</a:t>
            </a:r>
            <a:r>
              <a:rPr dirty="0"/>
              <a:t>, a pre-trained language model.</a:t>
            </a:r>
          </a:p>
          <a:p>
            <a:pPr marL="342900" indent="-342900" algn="just" defTabSz="621776">
              <a:spcBef>
                <a:spcPts val="600"/>
              </a:spcBef>
              <a:buSzPct val="100000"/>
              <a:buFont typeface="Arial" panose="020B0604020202020204" pitchFamily="34" charset="0"/>
              <a:buChar char="•"/>
              <a:defRPr sz="2176">
                <a:latin typeface="+mn-lt"/>
                <a:ea typeface="+mn-ea"/>
                <a:cs typeface="+mn-cs"/>
                <a:sym typeface="Calibri"/>
              </a:defRPr>
            </a:pPr>
            <a:r>
              <a:rPr dirty="0"/>
              <a:t>A word </a:t>
            </a:r>
            <a:r>
              <a:rPr dirty="0" err="1"/>
              <a:t>wi</a:t>
            </a:r>
            <a:r>
              <a:rPr dirty="0"/>
              <a:t> is represented by a embedding vector vi .</a:t>
            </a:r>
          </a:p>
          <a:p>
            <a:pPr marL="342900" indent="-342900" algn="just" defTabSz="621776">
              <a:spcBef>
                <a:spcPts val="600"/>
              </a:spcBef>
              <a:buSzPct val="100000"/>
              <a:buFont typeface="Arial" panose="020B0604020202020204" pitchFamily="34" charset="0"/>
              <a:buChar char="•"/>
              <a:defRPr sz="2176">
                <a:latin typeface="+mn-lt"/>
                <a:ea typeface="+mn-ea"/>
                <a:cs typeface="+mn-cs"/>
                <a:sym typeface="Calibri"/>
              </a:defRPr>
            </a:pPr>
            <a:r>
              <a:rPr dirty="0"/>
              <a:t>The embedded representation vi of a word </a:t>
            </a:r>
            <a:r>
              <a:rPr dirty="0" err="1"/>
              <a:t>wi</a:t>
            </a:r>
            <a:r>
              <a:rPr dirty="0"/>
              <a:t> inputs to a simple feed-forward neural network.</a:t>
            </a:r>
          </a:p>
          <a:p>
            <a:pPr marL="342900" indent="-342900" algn="just" defTabSz="621776">
              <a:spcBef>
                <a:spcPts val="600"/>
              </a:spcBef>
              <a:buSzPct val="100000"/>
              <a:buFont typeface="Arial" panose="020B0604020202020204" pitchFamily="34" charset="0"/>
              <a:buChar char="•"/>
              <a:defRPr sz="2176">
                <a:latin typeface="+mn-lt"/>
                <a:ea typeface="+mn-ea"/>
                <a:cs typeface="+mn-cs"/>
                <a:sym typeface="Calibri"/>
              </a:defRPr>
            </a:pPr>
            <a:r>
              <a:rPr dirty="0"/>
              <a:t>The input embedding vector vi is simultaneously optimized through the feed- forward network training. </a:t>
            </a:r>
          </a:p>
          <a:p>
            <a:pPr marL="342900" indent="-342900" algn="just" defTabSz="621776">
              <a:spcBef>
                <a:spcPts val="600"/>
              </a:spcBef>
              <a:buSzPct val="100000"/>
              <a:buFont typeface="Arial" panose="020B0604020202020204" pitchFamily="34" charset="0"/>
              <a:buChar char="•"/>
              <a:defRPr sz="2176">
                <a:latin typeface="+mn-lt"/>
                <a:ea typeface="+mn-ea"/>
                <a:cs typeface="+mn-cs"/>
                <a:sym typeface="Calibri"/>
              </a:defRPr>
            </a:pPr>
            <a:r>
              <a:rPr dirty="0"/>
              <a:t>Finally, the optimized embedding vector of a word is very close to the words with similar semantics. </a:t>
            </a:r>
          </a:p>
          <a:p>
            <a:pPr marL="342900" indent="-342900" algn="just" defTabSz="621776">
              <a:spcBef>
                <a:spcPts val="600"/>
              </a:spcBef>
              <a:buSzPct val="100000"/>
              <a:buFont typeface="Arial" panose="020B0604020202020204" pitchFamily="34" charset="0"/>
              <a:buChar char="•"/>
              <a:defRPr sz="2176">
                <a:latin typeface="+mn-lt"/>
                <a:ea typeface="+mn-ea"/>
                <a:cs typeface="+mn-cs"/>
                <a:sym typeface="Calibri"/>
              </a:defRPr>
            </a:pPr>
            <a:r>
              <a:rPr dirty="0" err="1"/>
              <a:t>FastText</a:t>
            </a:r>
            <a:r>
              <a:rPr dirty="0"/>
              <a:t> embeds </a:t>
            </a:r>
            <a:r>
              <a:rPr dirty="0" err="1"/>
              <a:t>subwords</a:t>
            </a:r>
            <a:r>
              <a:rPr dirty="0"/>
              <a:t> and uses them to generate the final embedding of the word </a:t>
            </a:r>
            <a:r>
              <a:rPr dirty="0" err="1"/>
              <a:t>wi</a:t>
            </a:r>
            <a:r>
              <a:rPr dirty="0"/>
              <a:t>. </a:t>
            </a:r>
          </a:p>
          <a:p>
            <a:pPr marL="342900" indent="-342900" algn="just" defTabSz="621776">
              <a:spcBef>
                <a:spcPts val="600"/>
              </a:spcBef>
              <a:buSzPct val="100000"/>
              <a:buFont typeface="Arial" panose="020B0604020202020204" pitchFamily="34" charset="0"/>
              <a:buChar char="•"/>
              <a:defRPr sz="2176">
                <a:latin typeface="+mn-lt"/>
                <a:ea typeface="+mn-ea"/>
                <a:cs typeface="+mn-cs"/>
                <a:sym typeface="Calibri"/>
              </a:defRPr>
            </a:pPr>
            <a:r>
              <a:rPr dirty="0"/>
              <a:t>Embedding vectors of all </a:t>
            </a:r>
            <a:r>
              <a:rPr dirty="0" err="1"/>
              <a:t>subwords</a:t>
            </a:r>
            <a:r>
              <a:rPr dirty="0"/>
              <a:t> are combined to represent the corresponding word.</a:t>
            </a:r>
            <a:endParaRPr sz="1632" dirty="0">
              <a:latin typeface="Arial Black"/>
              <a:ea typeface="Arial Black"/>
              <a:cs typeface="Arial Black"/>
              <a:sym typeface="Arial Black"/>
            </a:endParaRPr>
          </a:p>
          <a:p>
            <a:pPr marL="285750" indent="-285750" algn="just" defTabSz="621776">
              <a:buFont typeface="Arial" panose="020B0604020202020204" pitchFamily="34" charset="0"/>
              <a:buChar char="•"/>
              <a:defRPr sz="3604">
                <a:solidFill>
                  <a:srgbClr val="FF5050"/>
                </a:solidFill>
              </a:defRPr>
            </a:pPr>
            <a:br>
              <a:rPr sz="1632" dirty="0">
                <a:solidFill>
                  <a:srgbClr val="000000"/>
                </a:solidFill>
                <a:latin typeface="Arial Black"/>
                <a:ea typeface="Arial Black"/>
                <a:cs typeface="Arial Black"/>
                <a:sym typeface="Arial Black"/>
              </a:rPr>
            </a:br>
            <a:br>
              <a:rPr sz="1632" dirty="0">
                <a:solidFill>
                  <a:srgbClr val="000000"/>
                </a:solidFill>
                <a:latin typeface="Arial Black"/>
                <a:ea typeface="Arial Black"/>
                <a:cs typeface="Arial Black"/>
                <a:sym typeface="Arial Black"/>
              </a:rPr>
            </a:br>
            <a:endParaRPr sz="1632" dirty="0">
              <a:solidFill>
                <a:srgbClr val="000000"/>
              </a:solidFill>
              <a:latin typeface="Arial Black"/>
              <a:ea typeface="Arial Black"/>
              <a:cs typeface="Arial Black"/>
              <a:sym typeface="Arial Black"/>
            </a:endParaRPr>
          </a:p>
        </p:txBody>
      </p:sp>
      <p:pic>
        <p:nvPicPr>
          <p:cNvPr id="114" name="Picture 2" descr="Picture 2"/>
          <p:cNvPicPr>
            <a:picLocks noChangeAspect="1"/>
          </p:cNvPicPr>
          <p:nvPr/>
        </p:nvPicPr>
        <p:blipFill>
          <a:blip r:embed="rId2"/>
          <a:stretch>
            <a:fillRect/>
          </a:stretch>
        </p:blipFill>
        <p:spPr>
          <a:xfrm>
            <a:off x="66870" y="2"/>
            <a:ext cx="1219201" cy="1144589"/>
          </a:xfrm>
          <a:prstGeom prst="rect">
            <a:avLst/>
          </a:prstGeom>
          <a:ln w="12700">
            <a:miter lim="400000"/>
          </a:ln>
        </p:spPr>
      </p:pic>
      <p:sp>
        <p:nvSpPr>
          <p:cNvPr id="115" name="TextBox 5"/>
          <p:cNvSpPr txBox="1"/>
          <p:nvPr/>
        </p:nvSpPr>
        <p:spPr>
          <a:xfrm>
            <a:off x="1331794" y="102214"/>
            <a:ext cx="10658980" cy="1082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2200">
                <a:latin typeface="Arial Rounded MT Bold"/>
                <a:ea typeface="Arial Rounded MT Bold"/>
                <a:cs typeface="Arial Rounded MT Bold"/>
                <a:sym typeface="Arial Rounded MT Bold"/>
              </a:defRPr>
            </a:pPr>
            <a:r>
              <a:t>GOKARAJU RANGARAJU INSTITUTE OF ENGINEERING AND TECHNOLOGY</a:t>
            </a:r>
          </a:p>
          <a:p>
            <a:pPr algn="ctr">
              <a:defRPr sz="2200">
                <a:latin typeface="Arial Rounded MT Bold"/>
                <a:ea typeface="Arial Rounded MT Bold"/>
                <a:cs typeface="Arial Rounded MT Bold"/>
                <a:sym typeface="Arial Rounded MT Bold"/>
              </a:defRPr>
            </a:pPr>
            <a:r>
              <a:t>Department of Computer Science and Engineering</a:t>
            </a:r>
          </a:p>
          <a:p>
            <a:pPr algn="ctr">
              <a:defRPr sz="2200">
                <a:latin typeface="Arial Rounded MT Bold"/>
                <a:ea typeface="Arial Rounded MT Bold"/>
                <a:cs typeface="Arial Rounded MT Bold"/>
                <a:sym typeface="Arial Rounded MT Bold"/>
              </a:defRPr>
            </a:pPr>
            <a:r>
              <a:t>MINI Project Review-2</a:t>
            </a:r>
          </a:p>
        </p:txBody>
      </p:sp>
      <p:sp>
        <p:nvSpPr>
          <p:cNvPr id="116" name="Date Placeholder 6"/>
          <p:cNvSpPr txBox="1"/>
          <p:nvPr/>
        </p:nvSpPr>
        <p:spPr>
          <a:xfrm>
            <a:off x="883919" y="6414761"/>
            <a:ext cx="2651762" cy="2483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t>23-05-2023</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0" name="Image Gallery"/>
          <p:cNvGrpSpPr/>
          <p:nvPr/>
        </p:nvGrpSpPr>
        <p:grpSpPr>
          <a:xfrm>
            <a:off x="602844" y="455446"/>
            <a:ext cx="10986312" cy="6210589"/>
            <a:chOff x="0" y="0"/>
            <a:chExt cx="10986310" cy="6210587"/>
          </a:xfrm>
        </p:grpSpPr>
        <p:pic>
          <p:nvPicPr>
            <p:cNvPr id="118" name="Screenshot 2023-05-29 at 9.27.11 PM.png" descr="Screenshot 2023-05-29 at 9.27.11 PM.png"/>
            <p:cNvPicPr>
              <a:picLocks noChangeAspect="1"/>
            </p:cNvPicPr>
            <p:nvPr/>
          </p:nvPicPr>
          <p:blipFill>
            <a:blip r:embed="rId2"/>
            <a:srcRect l="597" r="597"/>
            <a:stretch>
              <a:fillRect/>
            </a:stretch>
          </p:blipFill>
          <p:spPr>
            <a:xfrm>
              <a:off x="0" y="0"/>
              <a:ext cx="10986311" cy="5740341"/>
            </a:xfrm>
            <a:prstGeom prst="rect">
              <a:avLst/>
            </a:prstGeom>
            <a:ln w="12700" cap="flat">
              <a:noFill/>
              <a:miter lim="400000"/>
            </a:ln>
            <a:effectLst/>
          </p:spPr>
        </p:pic>
        <p:sp>
          <p:nvSpPr>
            <p:cNvPr id="119" name="Fig 2.Giving the fast text model as input"/>
            <p:cNvSpPr/>
            <p:nvPr/>
          </p:nvSpPr>
          <p:spPr>
            <a:xfrm>
              <a:off x="0" y="5816540"/>
              <a:ext cx="10986311" cy="39404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6200" tIns="76200" rIns="76200" bIns="76200" numCol="1" anchor="t">
              <a:noAutofit/>
            </a:bodyPr>
            <a:lstStyle/>
            <a:p>
              <a:r>
                <a:t>                                                             Fig 2.Giving the fast text model as input</a:t>
              </a:r>
            </a:p>
          </p:txBody>
        </p:sp>
      </p:gr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4" name="Image Gallery"/>
          <p:cNvGrpSpPr/>
          <p:nvPr/>
        </p:nvGrpSpPr>
        <p:grpSpPr>
          <a:xfrm>
            <a:off x="1039189" y="218790"/>
            <a:ext cx="10113622" cy="6604001"/>
            <a:chOff x="0" y="0"/>
            <a:chExt cx="10113620" cy="6604000"/>
          </a:xfrm>
        </p:grpSpPr>
        <p:pic>
          <p:nvPicPr>
            <p:cNvPr id="122" name="Screenshot 2023-05-29 at 9.28.56 PM.png" descr="Screenshot 2023-05-29 at 9.28.56 PM.png"/>
            <p:cNvPicPr>
              <a:picLocks noChangeAspect="1"/>
            </p:cNvPicPr>
            <p:nvPr/>
          </p:nvPicPr>
          <p:blipFill>
            <a:blip r:embed="rId2"/>
            <a:srcRect t="1307" b="1307"/>
            <a:stretch>
              <a:fillRect/>
            </a:stretch>
          </p:blipFill>
          <p:spPr>
            <a:xfrm>
              <a:off x="0" y="0"/>
              <a:ext cx="10113621" cy="6133753"/>
            </a:xfrm>
            <a:prstGeom prst="rect">
              <a:avLst/>
            </a:prstGeom>
            <a:ln w="12700" cap="flat">
              <a:noFill/>
              <a:miter lim="400000"/>
            </a:ln>
            <a:effectLst/>
          </p:spPr>
        </p:pic>
        <p:sp>
          <p:nvSpPr>
            <p:cNvPr id="123" name="Fig 3. Generating  synthetic data"/>
            <p:cNvSpPr/>
            <p:nvPr/>
          </p:nvSpPr>
          <p:spPr>
            <a:xfrm>
              <a:off x="0" y="6209952"/>
              <a:ext cx="10113621" cy="39404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6200" tIns="76200" rIns="76200" bIns="76200" numCol="1" anchor="t">
              <a:noAutofit/>
            </a:bodyPr>
            <a:lstStyle/>
            <a:p>
              <a:r>
                <a:t>                                                            Fig 3. Generating  synthetic data</a:t>
              </a:r>
            </a:p>
          </p:txBody>
        </p:sp>
      </p:gr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8" name="Image Gallery"/>
          <p:cNvGrpSpPr/>
          <p:nvPr/>
        </p:nvGrpSpPr>
        <p:grpSpPr>
          <a:xfrm>
            <a:off x="893900" y="173166"/>
            <a:ext cx="10404200" cy="6604001"/>
            <a:chOff x="0" y="0"/>
            <a:chExt cx="10404199" cy="6604000"/>
          </a:xfrm>
        </p:grpSpPr>
        <p:pic>
          <p:nvPicPr>
            <p:cNvPr id="126" name="Screenshot 2023-05-29 at 9.29.25 PM.png" descr="Screenshot 2023-05-29 at 9.29.25 PM.png"/>
            <p:cNvPicPr>
              <a:picLocks noChangeAspect="1"/>
            </p:cNvPicPr>
            <p:nvPr/>
          </p:nvPicPr>
          <p:blipFill>
            <a:blip r:embed="rId2"/>
            <a:srcRect t="2219" b="2219"/>
            <a:stretch>
              <a:fillRect/>
            </a:stretch>
          </p:blipFill>
          <p:spPr>
            <a:xfrm>
              <a:off x="0" y="0"/>
              <a:ext cx="10404200" cy="6133753"/>
            </a:xfrm>
            <a:prstGeom prst="rect">
              <a:avLst/>
            </a:prstGeom>
            <a:ln w="12700" cap="flat">
              <a:noFill/>
              <a:miter lim="400000"/>
            </a:ln>
            <a:effectLst/>
          </p:spPr>
        </p:pic>
        <p:sp>
          <p:nvSpPr>
            <p:cNvPr id="127" name="Fig 4. Giving the datasets as input"/>
            <p:cNvSpPr/>
            <p:nvPr/>
          </p:nvSpPr>
          <p:spPr>
            <a:xfrm>
              <a:off x="0" y="6209952"/>
              <a:ext cx="10404200" cy="39404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6200" tIns="76200" rIns="76200" bIns="76200" numCol="1" anchor="t">
              <a:noAutofit/>
            </a:bodyPr>
            <a:lstStyle/>
            <a:p>
              <a:r>
                <a:t>                                                          Fig 4. Giving the datasets as input  </a:t>
              </a:r>
            </a:p>
          </p:txBody>
        </p:sp>
      </p:gr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1"/>
          <p:cNvSpPr txBox="1">
            <a:spLocks noGrp="1"/>
          </p:cNvSpPr>
          <p:nvPr>
            <p:ph type="title"/>
          </p:nvPr>
        </p:nvSpPr>
        <p:spPr>
          <a:prstGeom prst="rect">
            <a:avLst/>
          </a:prstGeom>
        </p:spPr>
        <p:txBody>
          <a:bodyPr/>
          <a:lstStyle/>
          <a:p>
            <a:r>
              <a:t>Results</a:t>
            </a:r>
          </a:p>
        </p:txBody>
      </p:sp>
      <p:sp>
        <p:nvSpPr>
          <p:cNvPr id="131" name="Content Placeholder 2"/>
          <p:cNvSpPr txBox="1">
            <a:spLocks noGrp="1"/>
          </p:cNvSpPr>
          <p:nvPr>
            <p:ph type="body" idx="1"/>
          </p:nvPr>
        </p:nvSpPr>
        <p:spPr>
          <a:prstGeom prst="rect">
            <a:avLst/>
          </a:prstGeom>
        </p:spPr>
        <p:txBody>
          <a:bodyPr/>
          <a:lstStyle/>
          <a:p>
            <a:pPr marL="685782" lvl="1" indent="-228593" algn="just"/>
            <a:r>
              <a:t>Using the fasttext we are able to successfully create synthetic data for Kannada , Tamil datasets. The datasets are divided into training ,testing and validation . The Synthetic data generated are found to be in the mdb format(Microsoft Access desktop database management system</a:t>
            </a:r>
            <a:r>
              <a:rPr sz="1200"/>
              <a:t> </a:t>
            </a:r>
            <a:r>
              <a:t>).For each language the mdb files are created for training ,testing and validation datasets.</a:t>
            </a:r>
          </a:p>
        </p:txBody>
      </p:sp>
      <p:sp>
        <p:nvSpPr>
          <p:cNvPr id="132" name="Date Placeholder 3"/>
          <p:cNvSpPr txBox="1"/>
          <p:nvPr/>
        </p:nvSpPr>
        <p:spPr>
          <a:xfrm>
            <a:off x="883919" y="6414761"/>
            <a:ext cx="2651762" cy="2483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t>23-05-2023</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Generated Synthetic files"/>
          <p:cNvSpPr txBox="1">
            <a:spLocks noGrp="1"/>
          </p:cNvSpPr>
          <p:nvPr>
            <p:ph type="title"/>
          </p:nvPr>
        </p:nvSpPr>
        <p:spPr>
          <a:xfrm>
            <a:off x="838200" y="365127"/>
            <a:ext cx="10515600" cy="1015976"/>
          </a:xfrm>
          <a:prstGeom prst="rect">
            <a:avLst/>
          </a:prstGeom>
        </p:spPr>
        <p:txBody>
          <a:bodyPr/>
          <a:lstStyle>
            <a:lvl1pPr>
              <a:defRPr sz="3100"/>
            </a:lvl1pPr>
          </a:lstStyle>
          <a:p>
            <a:r>
              <a:t>Generated Synthetic files</a:t>
            </a:r>
          </a:p>
        </p:txBody>
      </p:sp>
      <p:grpSp>
        <p:nvGrpSpPr>
          <p:cNvPr id="137" name="Image Gallery"/>
          <p:cNvGrpSpPr/>
          <p:nvPr/>
        </p:nvGrpSpPr>
        <p:grpSpPr>
          <a:xfrm>
            <a:off x="119250" y="1551001"/>
            <a:ext cx="11953500" cy="4747763"/>
            <a:chOff x="0" y="0"/>
            <a:chExt cx="11953499" cy="4747762"/>
          </a:xfrm>
        </p:grpSpPr>
        <p:pic>
          <p:nvPicPr>
            <p:cNvPr id="135" name="Screenshot 2023-05-30 at 12.28.11 PM.png" descr="Screenshot 2023-05-30 at 12.28.11 PM.png"/>
            <p:cNvPicPr>
              <a:picLocks noChangeAspect="1"/>
            </p:cNvPicPr>
            <p:nvPr/>
          </p:nvPicPr>
          <p:blipFill>
            <a:blip r:embed="rId2"/>
            <a:srcRect l="244" r="244"/>
            <a:stretch>
              <a:fillRect/>
            </a:stretch>
          </p:blipFill>
          <p:spPr>
            <a:xfrm>
              <a:off x="0" y="0"/>
              <a:ext cx="11953500" cy="4277516"/>
            </a:xfrm>
            <a:prstGeom prst="rect">
              <a:avLst/>
            </a:prstGeom>
            <a:ln w="12700" cap="flat">
              <a:noFill/>
              <a:miter lim="400000"/>
            </a:ln>
            <a:effectLst/>
          </p:spPr>
        </p:pic>
        <p:sp>
          <p:nvSpPr>
            <p:cNvPr id="136" name="Fig.5"/>
            <p:cNvSpPr/>
            <p:nvPr/>
          </p:nvSpPr>
          <p:spPr>
            <a:xfrm>
              <a:off x="0" y="4353715"/>
              <a:ext cx="11953500" cy="39404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6200" tIns="76200" rIns="76200" bIns="76200" numCol="1" anchor="t">
              <a:noAutofit/>
            </a:bodyPr>
            <a:lstStyle/>
            <a:p>
              <a:r>
                <a:t>                                                                                                              Fig.5 </a:t>
              </a:r>
            </a:p>
          </p:txBody>
        </p:sp>
      </p:gr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itle 1"/>
          <p:cNvSpPr txBox="1">
            <a:spLocks noGrp="1"/>
          </p:cNvSpPr>
          <p:nvPr>
            <p:ph type="title"/>
          </p:nvPr>
        </p:nvSpPr>
        <p:spPr>
          <a:prstGeom prst="rect">
            <a:avLst/>
          </a:prstGeom>
        </p:spPr>
        <p:txBody>
          <a:bodyPr/>
          <a:lstStyle/>
          <a:p>
            <a:r>
              <a:t>Conclusion &amp; Further Scope</a:t>
            </a:r>
          </a:p>
        </p:txBody>
      </p:sp>
      <p:sp>
        <p:nvSpPr>
          <p:cNvPr id="140" name="Content Placeholder 2"/>
          <p:cNvSpPr txBox="1">
            <a:spLocks noGrp="1"/>
          </p:cNvSpPr>
          <p:nvPr>
            <p:ph type="body" idx="1"/>
          </p:nvPr>
        </p:nvSpPr>
        <p:spPr>
          <a:prstGeom prst="rect">
            <a:avLst/>
          </a:prstGeom>
        </p:spPr>
        <p:txBody>
          <a:bodyPr/>
          <a:lstStyle/>
          <a:p>
            <a:pPr marL="0" indent="0" algn="just" defTabSz="457200">
              <a:lnSpc>
                <a:spcPct val="100000"/>
              </a:lnSpc>
              <a:spcBef>
                <a:spcPts val="1200"/>
              </a:spcBef>
              <a:buSzTx/>
              <a:buFontTx/>
              <a:buNone/>
              <a:defRPr sz="1333">
                <a:latin typeface="Times Roman"/>
                <a:ea typeface="Times Roman"/>
                <a:cs typeface="Times Roman"/>
                <a:sym typeface="Times Roman"/>
              </a:defRPr>
            </a:pPr>
            <a:r>
              <a:rPr sz="2600" dirty="0"/>
              <a:t>Thus , the synthetic data can be generated for any language by using pre-trained language model</a:t>
            </a:r>
            <a:r>
              <a:rPr lang="en-US" sz="2600" dirty="0"/>
              <a:t>, </a:t>
            </a:r>
            <a:r>
              <a:rPr lang="en-US" sz="2600" dirty="0" err="1"/>
              <a:t>FastText</a:t>
            </a:r>
            <a:r>
              <a:rPr sz="2600" dirty="0"/>
              <a:t>.</a:t>
            </a:r>
            <a:r>
              <a:rPr lang="en-US" sz="2600" dirty="0"/>
              <a:t> We </a:t>
            </a:r>
            <a:r>
              <a:rPr lang="en-US" sz="2600"/>
              <a:t>have synthesized </a:t>
            </a:r>
            <a:r>
              <a:rPr lang="en-US" sz="2600" dirty="0"/>
              <a:t>the original dataset to make it fit for training and testing. During the decoding phase</a:t>
            </a:r>
            <a:r>
              <a:rPr sz="2600" dirty="0"/>
              <a:t>,</a:t>
            </a:r>
            <a:r>
              <a:rPr lang="en-US" sz="2600" dirty="0"/>
              <a:t> </a:t>
            </a:r>
            <a:r>
              <a:rPr sz="2600" dirty="0"/>
              <a:t>the predicted global semantic information(synthetic data) can be used to initialize the decoder to recognize the text accurately during decoding for word images having incomplete and blurred characters.</a:t>
            </a:r>
            <a:r>
              <a:rPr dirty="0"/>
              <a:t> </a:t>
            </a:r>
            <a:r>
              <a:rPr sz="2600" dirty="0"/>
              <a:t>The semantic information will provide an effective global feature to the decoder, robust to the interference in the images</a:t>
            </a:r>
            <a:r>
              <a:rPr dirty="0"/>
              <a:t> .</a:t>
            </a:r>
            <a:endParaRPr sz="1200" dirty="0"/>
          </a:p>
        </p:txBody>
      </p:sp>
      <p:sp>
        <p:nvSpPr>
          <p:cNvPr id="141" name="Date Placeholder 3"/>
          <p:cNvSpPr txBox="1"/>
          <p:nvPr/>
        </p:nvSpPr>
        <p:spPr>
          <a:xfrm>
            <a:off x="883919" y="6414761"/>
            <a:ext cx="2651762" cy="2483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t>23-05-2023</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Title 1"/>
          <p:cNvSpPr txBox="1">
            <a:spLocks noGrp="1"/>
          </p:cNvSpPr>
          <p:nvPr>
            <p:ph type="ctrTitle"/>
          </p:nvPr>
        </p:nvSpPr>
        <p:spPr>
          <a:xfrm>
            <a:off x="1325336" y="1320912"/>
            <a:ext cx="10487219" cy="4977253"/>
          </a:xfrm>
          <a:prstGeom prst="rect">
            <a:avLst/>
          </a:prstGeom>
        </p:spPr>
        <p:txBody>
          <a:bodyPr/>
          <a:lstStyle/>
          <a:p>
            <a:pPr>
              <a:defRPr sz="6700">
                <a:latin typeface="Arial Rounded MT Bold"/>
                <a:ea typeface="Arial Rounded MT Bold"/>
                <a:cs typeface="Arial Rounded MT Bold"/>
                <a:sym typeface="Arial Rounded MT Bold"/>
              </a:defRPr>
            </a:pPr>
            <a:r>
              <a:t>Thank You </a:t>
            </a:r>
            <a:br/>
            <a:br/>
            <a:r>
              <a:rPr sz="2000"/>
              <a:t>ANY Queries Please?</a:t>
            </a:r>
            <a:br>
              <a:rPr sz="2000"/>
            </a:br>
            <a:br>
              <a:rPr sz="2000"/>
            </a:br>
            <a:br>
              <a:rPr sz="2000"/>
            </a:br>
            <a:br>
              <a:rPr sz="2000"/>
            </a:br>
            <a:endParaRPr sz="2000"/>
          </a:p>
        </p:txBody>
      </p:sp>
      <p:pic>
        <p:nvPicPr>
          <p:cNvPr id="144" name="Picture 2" descr="Picture 2"/>
          <p:cNvPicPr>
            <a:picLocks noChangeAspect="1"/>
          </p:cNvPicPr>
          <p:nvPr/>
        </p:nvPicPr>
        <p:blipFill>
          <a:blip r:embed="rId2"/>
          <a:stretch>
            <a:fillRect/>
          </a:stretch>
        </p:blipFill>
        <p:spPr>
          <a:xfrm>
            <a:off x="66870" y="2"/>
            <a:ext cx="1219201" cy="1144589"/>
          </a:xfrm>
          <a:prstGeom prst="rect">
            <a:avLst/>
          </a:prstGeom>
          <a:ln w="12700">
            <a:miter lim="400000"/>
          </a:ln>
        </p:spPr>
      </p:pic>
      <p:sp>
        <p:nvSpPr>
          <p:cNvPr id="145" name="TextBox 5"/>
          <p:cNvSpPr txBox="1"/>
          <p:nvPr/>
        </p:nvSpPr>
        <p:spPr>
          <a:xfrm>
            <a:off x="1331794" y="102214"/>
            <a:ext cx="10658980" cy="1082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2200">
                <a:latin typeface="Arial Rounded MT Bold"/>
                <a:ea typeface="Arial Rounded MT Bold"/>
                <a:cs typeface="Arial Rounded MT Bold"/>
                <a:sym typeface="Arial Rounded MT Bold"/>
              </a:defRPr>
            </a:pPr>
            <a:r>
              <a:t>GOKARAJU RANGARAJU INSTITUTE OF ENGINEERING AND TECHNOLOGY</a:t>
            </a:r>
          </a:p>
          <a:p>
            <a:pPr algn="ctr">
              <a:defRPr sz="2200">
                <a:latin typeface="Arial Rounded MT Bold"/>
                <a:ea typeface="Arial Rounded MT Bold"/>
                <a:cs typeface="Arial Rounded MT Bold"/>
                <a:sym typeface="Arial Rounded MT Bold"/>
              </a:defRPr>
            </a:pPr>
            <a:r>
              <a:t>Department of Computer Science and Engineering</a:t>
            </a:r>
          </a:p>
          <a:p>
            <a:pPr algn="ctr">
              <a:defRPr sz="2200">
                <a:latin typeface="Arial Rounded MT Bold"/>
                <a:ea typeface="Arial Rounded MT Bold"/>
                <a:cs typeface="Arial Rounded MT Bold"/>
                <a:sym typeface="Arial Rounded MT Bold"/>
              </a:defRPr>
            </a:pPr>
            <a:r>
              <a:t>MINI Project Review-2</a:t>
            </a:r>
          </a:p>
        </p:txBody>
      </p:sp>
      <p:sp>
        <p:nvSpPr>
          <p:cNvPr id="146" name="Date Placeholder 7"/>
          <p:cNvSpPr txBox="1"/>
          <p:nvPr/>
        </p:nvSpPr>
        <p:spPr>
          <a:xfrm>
            <a:off x="883919" y="6414761"/>
            <a:ext cx="2651762" cy="2483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t>23-05-2023</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11</TotalTime>
  <Words>740</Words>
  <Application>Microsoft Office PowerPoint</Application>
  <PresentationFormat>Widescreen</PresentationFormat>
  <Paragraphs>65</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Arial Black</vt:lpstr>
      <vt:lpstr>Arial Rounded MT Bold</vt:lpstr>
      <vt:lpstr>Avenir Next LT Pro Light</vt:lpstr>
      <vt:lpstr>Bahnschrift Light</vt:lpstr>
      <vt:lpstr>Calibri</vt:lpstr>
      <vt:lpstr>Calibri Light</vt:lpstr>
      <vt:lpstr>Times Roman</vt:lpstr>
      <vt:lpstr>Office Theme</vt:lpstr>
      <vt:lpstr>Synthetic Data Generation for Document Text Recognition Dr. Ashlin Deepa R N</vt:lpstr>
      <vt:lpstr>ABSTRACT :   Document text recognition is a technology that recognises text in scanned documents.It is used to convert scanned handwritten text into an accessible electronic version of text.In document text recognition of Indian languages, due to vast size of dataset, explicit preprocessing takes lot of time. To reduce the cost and time of preprocessing, synthetic data generation is introduced which does not require explicit preprocessing.Synthetic data is artificial data that mimics real-world observations and is used to train machine learning models when actual data is difficult or expensive to get. In this project we employ a data preprocessing technique that involves generating synthetic data files from the existing dataset of Indian languages.These files serve as a structured format for managing and organizing the data specifically for document text recognition tasks. This synthetic data is used for training and testing the language models. We use the fastText model as a pre-trained language model, which creates word embeddings and acts as a supervisor for predicting using the synthetic data.  </vt:lpstr>
      <vt:lpstr>Algorithm Used in the project</vt:lpstr>
      <vt:lpstr>PowerPoint Presentation</vt:lpstr>
      <vt:lpstr>Project Implementation &amp; Execution (100%):   In this project, we use word embedding based on skip-gram from FastText, a pre-trained language model. A word wi is represented by a embedding vector vi . The embedded representation vi of a word wi inputs to a simple feed-forward neural network. The input embedding vector vi is simultaneously optimized through the feed- forward network training.  Finally, the optimized embedding vector of a word is very close to the words with similar semantics.  FastText embeds subwords and uses them to generate the final embedding of the word wi.  Embedding vectors of all subwords are combined to represent the corresponding word.   </vt:lpstr>
      <vt:lpstr>PowerPoint Presentation</vt:lpstr>
      <vt:lpstr>PowerPoint Presentation</vt:lpstr>
      <vt:lpstr>PowerPoint Presentation</vt:lpstr>
      <vt:lpstr>Results</vt:lpstr>
      <vt:lpstr>Generated Synthetic files</vt:lpstr>
      <vt:lpstr>Conclusion &amp; Further Scope</vt:lpstr>
      <vt:lpstr>Thank You   ANY Queries Please?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Synthetic Data Generation for Document Text Recognition Dr. Ashlin Deepa R N</dc:title>
  <cp:lastModifiedBy>Boda Srija</cp:lastModifiedBy>
  <cp:revision>5</cp:revision>
  <dcterms:modified xsi:type="dcterms:W3CDTF">2023-06-01T14:04:57Z</dcterms:modified>
</cp:coreProperties>
</file>